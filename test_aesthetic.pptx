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262" r:id="rId4"/>
    <p:sldId id="292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89" r:id="rId15"/>
    <p:sldId id="269" r:id="rId16"/>
    <p:sldId id="290" r:id="rId17"/>
    <p:sldId id="291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94" r:id="rId29"/>
    <p:sldId id="295" r:id="rId30"/>
    <p:sldId id="296" r:id="rId31"/>
    <p:sldId id="297" r:id="rId3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5526C-5D39-41B1-A833-0D9691804329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31BFE-FCE1-4DEE-8EBD-EAF0122805D1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 &amp; Bullet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228600" lvl="0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1pPr>
            <a:lvl2pPr marL="457200" lvl="1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2pPr>
            <a:lvl3pPr marL="685800" lvl="2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3pPr>
            <a:lvl4pPr marL="914400" lvl="3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4pPr>
            <a:lvl5pPr marL="1143000" lvl="4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5pPr>
            <a:lvl6pPr marL="1371600" lvl="5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1600200" lvl="6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1828800" lvl="7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2057400" lvl="8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22661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13" Type="http://schemas.openxmlformats.org/officeDocument/2006/relationships/image" Target="../media/image2.png"/><Relationship Id="rId3" Type="http://schemas.openxmlformats.org/officeDocument/2006/relationships/image" Target="../media/image40.jpeg"/><Relationship Id="rId7" Type="http://schemas.openxmlformats.org/officeDocument/2006/relationships/image" Target="../media/image44.jpeg"/><Relationship Id="rId12" Type="http://schemas.openxmlformats.org/officeDocument/2006/relationships/image" Target="../media/image49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11" Type="http://schemas.openxmlformats.org/officeDocument/2006/relationships/image" Target="../media/image48.jpeg"/><Relationship Id="rId5" Type="http://schemas.openxmlformats.org/officeDocument/2006/relationships/image" Target="../media/image42.jpeg"/><Relationship Id="rId10" Type="http://schemas.openxmlformats.org/officeDocument/2006/relationships/image" Target="../media/image47.jpeg"/><Relationship Id="rId4" Type="http://schemas.openxmlformats.org/officeDocument/2006/relationships/image" Target="../media/image41.jpeg"/><Relationship Id="rId9" Type="http://schemas.openxmlformats.org/officeDocument/2006/relationships/image" Target="../media/image46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13" Type="http://schemas.openxmlformats.org/officeDocument/2006/relationships/image" Target="../media/image2.png"/><Relationship Id="rId3" Type="http://schemas.openxmlformats.org/officeDocument/2006/relationships/image" Target="../media/image50.jpeg"/><Relationship Id="rId7" Type="http://schemas.openxmlformats.org/officeDocument/2006/relationships/image" Target="../media/image54.jpeg"/><Relationship Id="rId12" Type="http://schemas.openxmlformats.org/officeDocument/2006/relationships/image" Target="../media/image59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eg"/><Relationship Id="rId11" Type="http://schemas.openxmlformats.org/officeDocument/2006/relationships/image" Target="../media/image58.jpeg"/><Relationship Id="rId5" Type="http://schemas.openxmlformats.org/officeDocument/2006/relationships/image" Target="../media/image52.jpeg"/><Relationship Id="rId10" Type="http://schemas.openxmlformats.org/officeDocument/2006/relationships/image" Target="../media/image57.jpeg"/><Relationship Id="rId4" Type="http://schemas.openxmlformats.org/officeDocument/2006/relationships/image" Target="../media/image51.jpeg"/><Relationship Id="rId9" Type="http://schemas.openxmlformats.org/officeDocument/2006/relationships/image" Target="../media/image56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61.jpeg"/><Relationship Id="rId7" Type="http://schemas.openxmlformats.org/officeDocument/2006/relationships/image" Target="../media/image65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eg"/><Relationship Id="rId11" Type="http://schemas.openxmlformats.org/officeDocument/2006/relationships/image" Target="../media/image2.png"/><Relationship Id="rId5" Type="http://schemas.openxmlformats.org/officeDocument/2006/relationships/image" Target="../media/image63.jpeg"/><Relationship Id="rId10" Type="http://schemas.openxmlformats.org/officeDocument/2006/relationships/image" Target="../media/image68.jpeg"/><Relationship Id="rId4" Type="http://schemas.openxmlformats.org/officeDocument/2006/relationships/image" Target="../media/image62.jpeg"/><Relationship Id="rId9" Type="http://schemas.openxmlformats.org/officeDocument/2006/relationships/image" Target="../media/image6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59000"/>
            <a:ext cx="10668000" cy="889000"/>
          </a:xfrm>
        </p:spPr>
        <p:txBody>
          <a:bodyPr>
            <a:normAutofit/>
          </a:bodyPr>
          <a:lstStyle/>
          <a:p>
            <a:pPr algn="l"/>
            <a:r>
              <a:rPr lang="it-IT" sz="4000" b="1" dirty="0" smtClean="0">
                <a:solidFill>
                  <a:srgbClr val="0E3F66"/>
                </a:solidFill>
                <a:latin typeface="Segoe UI" panose="020B0502040204020203" pitchFamily="34" charset="0"/>
                <a:ea typeface="Helvetica Neue"/>
                <a:cs typeface="Helvetica Neue"/>
                <a:sym typeface="Helvetica Neue"/>
              </a:rPr>
              <a:t>Nguyễn Vũ Bảo Ngọc - 1996</a:t>
            </a:r>
            <a:endParaRPr lang="en-US" sz="4000" b="1" i="0" u="none" strike="noStrike" cap="none" dirty="0">
              <a:solidFill>
                <a:srgbClr val="0E3F66"/>
              </a:solidFill>
              <a:latin typeface="Segoe UI" panose="020B0502040204020203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175000"/>
            <a:ext cx="10668000" cy="1143000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rgbClr val="8B7464"/>
                </a:solidFill>
                <a:latin typeface="Segoe UI" panose="020B0502040204020203" pitchFamily="34" charset="0"/>
              </a:rPr>
              <a:t>Dr. </a:t>
            </a:r>
            <a:r>
              <a:rPr lang="en-US" sz="1800" dirty="0" err="1" smtClean="0">
                <a:solidFill>
                  <a:srgbClr val="8B7464"/>
                </a:solidFill>
                <a:latin typeface="Segoe UI" panose="020B0502040204020203" pitchFamily="34" charset="0"/>
              </a:rPr>
              <a:t>Lê</a:t>
            </a:r>
            <a:r>
              <a:rPr lang="en-US" sz="1800" dirty="0" smtClean="0">
                <a:solidFill>
                  <a:srgbClr val="8B7464"/>
                </a:solidFill>
                <a:latin typeface="Segoe UI" panose="020B0502040204020203" pitchFamily="34" charset="0"/>
              </a:rPr>
              <a:t> </a:t>
            </a:r>
            <a:r>
              <a:rPr lang="en-US" sz="1800" dirty="0" err="1" smtClean="0">
                <a:solidFill>
                  <a:srgbClr val="8B7464"/>
                </a:solidFill>
                <a:latin typeface="Segoe UI" panose="020B0502040204020203" pitchFamily="34" charset="0"/>
              </a:rPr>
              <a:t>Võ</a:t>
            </a:r>
            <a:r>
              <a:rPr lang="en-US" sz="1800" dirty="0" smtClean="0">
                <a:solidFill>
                  <a:srgbClr val="8B7464"/>
                </a:solidFill>
                <a:latin typeface="Segoe UI" panose="020B0502040204020203" pitchFamily="34" charset="0"/>
              </a:rPr>
              <a:t> </a:t>
            </a:r>
            <a:r>
              <a:rPr lang="en-US" sz="1800" dirty="0" err="1" smtClean="0">
                <a:solidFill>
                  <a:srgbClr val="8B7464"/>
                </a:solidFill>
                <a:latin typeface="Segoe UI" panose="020B0502040204020203" pitchFamily="34" charset="0"/>
              </a:rPr>
              <a:t>Yến</a:t>
            </a:r>
            <a:r>
              <a:rPr lang="en-US" sz="1800" dirty="0" smtClean="0">
                <a:solidFill>
                  <a:srgbClr val="8B7464"/>
                </a:solidFill>
                <a:latin typeface="Segoe UI" panose="020B0502040204020203" pitchFamily="34" charset="0"/>
              </a:rPr>
              <a:t> </a:t>
            </a:r>
            <a:r>
              <a:rPr lang="en-US" sz="1800" dirty="0" err="1" smtClean="0">
                <a:solidFill>
                  <a:srgbClr val="8B7464"/>
                </a:solidFill>
                <a:latin typeface="Segoe UI" panose="020B0502040204020203" pitchFamily="34" charset="0"/>
              </a:rPr>
              <a:t>Nhi</a:t>
            </a:r>
            <a:endParaRPr lang="en-US" sz="1800" dirty="0">
              <a:solidFill>
                <a:srgbClr val="8B7464"/>
              </a:solidFill>
              <a:latin typeface="Segoe UI" panose="020B0502040204020203" pitchFamily="34" charset="0"/>
            </a:endParaRPr>
          </a:p>
          <a:p>
            <a:pPr algn="l"/>
            <a:r>
              <a:rPr lang="en-US" sz="1800" dirty="0" err="1" smtClean="0">
                <a:solidFill>
                  <a:srgbClr val="8B7464"/>
                </a:solidFill>
                <a:latin typeface="Segoe UI" panose="020B0502040204020203" pitchFamily="34" charset="0"/>
              </a:rPr>
              <a:t>Cơ</a:t>
            </a:r>
            <a:r>
              <a:rPr lang="en-US" sz="1800" dirty="0" smtClean="0">
                <a:solidFill>
                  <a:srgbClr val="8B7464"/>
                </a:solidFill>
                <a:latin typeface="Segoe UI" panose="020B0502040204020203" pitchFamily="34" charset="0"/>
              </a:rPr>
              <a:t> </a:t>
            </a:r>
            <a:r>
              <a:rPr lang="en-US" sz="1800" dirty="0" err="1" smtClean="0">
                <a:solidFill>
                  <a:srgbClr val="8B7464"/>
                </a:solidFill>
                <a:latin typeface="Segoe UI" panose="020B0502040204020203" pitchFamily="34" charset="0"/>
              </a:rPr>
              <a:t>sở</a:t>
            </a:r>
            <a:r>
              <a:rPr lang="en-US" sz="1800" dirty="0" smtClean="0">
                <a:solidFill>
                  <a:srgbClr val="8B7464"/>
                </a:solidFill>
                <a:latin typeface="Segoe UI" panose="020B0502040204020203" pitchFamily="34" charset="0"/>
              </a:rPr>
              <a:t> Tp. </a:t>
            </a:r>
            <a:r>
              <a:rPr lang="en-US" sz="1800" dirty="0" err="1" smtClean="0">
                <a:solidFill>
                  <a:srgbClr val="8B7464"/>
                </a:solidFill>
                <a:latin typeface="Segoe UI" panose="020B0502040204020203" pitchFamily="34" charset="0"/>
              </a:rPr>
              <a:t>Hồ</a:t>
            </a:r>
            <a:r>
              <a:rPr lang="en-US" sz="1800" dirty="0" smtClean="0">
                <a:solidFill>
                  <a:srgbClr val="8B7464"/>
                </a:solidFill>
                <a:latin typeface="Segoe UI" panose="020B0502040204020203" pitchFamily="34" charset="0"/>
              </a:rPr>
              <a:t> </a:t>
            </a:r>
            <a:r>
              <a:rPr lang="en-US" sz="1800" dirty="0" err="1" smtClean="0">
                <a:solidFill>
                  <a:srgbClr val="8B7464"/>
                </a:solidFill>
                <a:latin typeface="Segoe UI" panose="020B0502040204020203" pitchFamily="34" charset="0"/>
              </a:rPr>
              <a:t>Chí</a:t>
            </a:r>
            <a:r>
              <a:rPr lang="en-US" sz="1800" dirty="0" smtClean="0">
                <a:solidFill>
                  <a:srgbClr val="8B7464"/>
                </a:solidFill>
                <a:latin typeface="Segoe UI" panose="020B0502040204020203" pitchFamily="34" charset="0"/>
              </a:rPr>
              <a:t> Minh</a:t>
            </a:r>
            <a:endParaRPr lang="vi-VN" sz="1800" dirty="0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587500"/>
            <a:ext cx="3683000" cy="381000"/>
          </a:xfrm>
          <a:prstGeom prst="roundRect">
            <a:avLst/>
          </a:prstGeom>
          <a:solidFill>
            <a:srgbClr val="E6F8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50" b="1" smtClean="0">
                <a:solidFill>
                  <a:srgbClr val="00732A"/>
                </a:solidFill>
                <a:latin typeface="Segoe UI" panose="020B0502040204020203" pitchFamily="34" charset="0"/>
              </a:rPr>
              <a:t>HỒ SƠ BỆNH ÁN KHỚP THÁI DƯƠNG HÀM</a:t>
            </a:r>
            <a:endParaRPr lang="en-GB" sz="950" b="1">
              <a:solidFill>
                <a:srgbClr val="00732A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71500"/>
            <a:ext cx="24130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1595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9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HỆ THỐNG NHA KHOA CHUYÊN SÂU</a:t>
            </a:r>
            <a:endParaRPr lang="en-GB" sz="9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25400" bIns="25400" rtlCol="0" anchor="ctr" anchorCtr="0">
            <a:normAutofit/>
          </a:bodyPr>
          <a:lstStyle/>
          <a:p>
            <a:pPr>
              <a:buSzPts val="11200"/>
            </a:pPr>
            <a:r>
              <a:rPr lang="en-US" sz="2000" b="1">
                <a:solidFill>
                  <a:srgbClr val="0E3F66"/>
                </a:solidFill>
                <a:latin typeface="Segoe UI" panose="020B0502040204020203" pitchFamily="34" charset="0"/>
                <a:ea typeface="Helvetica Neue"/>
                <a:cs typeface="Helvetica Neue"/>
                <a:sym typeface="Helvetica Neue"/>
              </a:rPr>
              <a:t>Chief complain</a:t>
            </a:r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762000" y="952500"/>
            <a:ext cx="10668000" cy="5080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 marL="317500" indent="-317500">
              <a:spcBef>
                <a:spcPts val="0"/>
              </a:spcBef>
            </a:pPr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Pain in the left jaw angle</a:t>
            </a:r>
          </a:p>
          <a:p>
            <a:pPr marL="0" indent="0">
              <a:spcBef>
                <a:spcPts val="0"/>
              </a:spcBef>
              <a:buNone/>
            </a:pPr>
            <a:endParaRPr lang="en-US" sz="1500" dirty="0">
              <a:solidFill>
                <a:srgbClr val="554133"/>
              </a:solidFill>
              <a:latin typeface="Segoe UI" panose="020B0502040204020203" pitchFamily="34" charset="0"/>
            </a:endParaRPr>
          </a:p>
          <a:p>
            <a:pPr marL="317500" indent="-317500">
              <a:spcBef>
                <a:spcPts val="0"/>
              </a:spcBef>
            </a:pPr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Clenching teeth while sleeping</a:t>
            </a:r>
          </a:p>
          <a:p>
            <a:pPr marL="317500" indent="-317500">
              <a:spcBef>
                <a:spcPts val="0"/>
              </a:spcBef>
            </a:pPr>
            <a:endParaRPr lang="en-US" sz="1500">
              <a:solidFill>
                <a:srgbClr val="554133"/>
              </a:solidFill>
              <a:latin typeface="Segoe UI" panose="020B0502040204020203" pitchFamily="34" charset="0"/>
            </a:endParaRPr>
          </a:p>
          <a:p>
            <a:pPr marL="317500" indent="-317500">
              <a:spcBef>
                <a:spcPts val="0"/>
              </a:spcBef>
            </a:pPr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No HeadacheNo clicking </a:t>
            </a:r>
            <a:r>
              <a:rPr lang="en-US" sz="1500" dirty="0">
                <a:solidFill>
                  <a:srgbClr val="554133"/>
                </a:solidFill>
                <a:latin typeface="Segoe UI" panose="020B0502040204020203" pitchFamily="34" charset="0"/>
              </a:rPr>
              <a:t>sound both sides</a:t>
            </a:r>
            <a:endParaRPr sz="1500" dirty="0">
              <a:solidFill>
                <a:srgbClr val="554133"/>
              </a:solidFill>
              <a:latin typeface="Segoe UI" panose="020B0502040204020203" pitchFamily="34" charset="0"/>
            </a:endParaRPr>
          </a:p>
          <a:p>
            <a:pPr marL="317500" indent="-317500"/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No neck </a:t>
            </a:r>
            <a:r>
              <a:rPr lang="en-US" sz="1500" dirty="0">
                <a:solidFill>
                  <a:srgbClr val="554133"/>
                </a:solidFill>
                <a:latin typeface="Segoe UI" panose="020B0502040204020203" pitchFamily="34" charset="0"/>
              </a:rPr>
              <a:t>and shoulder pain</a:t>
            </a:r>
            <a:endParaRPr sz="1500" dirty="0">
              <a:solidFill>
                <a:srgbClr val="554133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3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02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25400" bIns="25400" rtlCol="0" anchor="ctr" anchorCtr="0">
            <a:normAutofit/>
          </a:bodyPr>
          <a:lstStyle/>
          <a:p>
            <a:pPr>
              <a:buSzPts val="11200"/>
            </a:pPr>
            <a:r>
              <a:rPr lang="en-US" sz="2000" b="1">
                <a:solidFill>
                  <a:srgbClr val="0E3F66"/>
                </a:solidFill>
                <a:latin typeface="Segoe UI" panose="020B0502040204020203" pitchFamily="34" charset="0"/>
                <a:ea typeface="Helvetica Neue"/>
                <a:cs typeface="Helvetica Neue"/>
                <a:sym typeface="Helvetica Neue"/>
              </a:rPr>
              <a:t>Dental history</a:t>
            </a:r>
          </a:p>
        </p:txBody>
      </p:sp>
      <p:sp>
        <p:nvSpPr>
          <p:cNvPr id="88" name="Google Shape;88;p3"/>
          <p:cNvSpPr txBox="1">
            <a:spLocks noGrp="1"/>
          </p:cNvSpPr>
          <p:nvPr>
            <p:ph type="body" idx="1"/>
          </p:nvPr>
        </p:nvSpPr>
        <p:spPr>
          <a:xfrm>
            <a:off x="762000" y="952500"/>
            <a:ext cx="10668000" cy="5080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 marL="317500" indent="-317500">
              <a:spcBef>
                <a:spcPts val="0"/>
              </a:spcBef>
            </a:pPr>
            <a:endParaRPr sz="1500" dirty="0">
              <a:solidFill>
                <a:srgbClr val="554133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3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03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đánh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giá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cột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sống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056" y="1320800"/>
            <a:ext cx="1971880" cy="514738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486" y="1320800"/>
            <a:ext cx="1836458" cy="514738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04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Ảnh ngoài mặt 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16" y="1690690"/>
            <a:ext cx="3901751" cy="390175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567" y="1690689"/>
            <a:ext cx="3901751" cy="390175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318" y="1690688"/>
            <a:ext cx="3901751" cy="390175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05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Ảnh góc nghiêng môi tự nhiên chụp cả 2 bên trái phải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732" y="1830356"/>
            <a:ext cx="4492688" cy="449268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513" y="1830356"/>
            <a:ext cx="4492688" cy="449268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06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Khép môi kín và hơi hở môi thư giãn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424" y="1758364"/>
            <a:ext cx="5438757" cy="4079489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2" y="1758364"/>
            <a:ext cx="5438768" cy="407949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07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Cười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tươi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vừa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cười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vừa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há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hở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răng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cửa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dưới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489" y="2089639"/>
            <a:ext cx="5731348" cy="3224227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19" y="2089639"/>
            <a:ext cx="5733014" cy="3224227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08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Cười lớn lộ răng chụp góc nghiêng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140" y="1399107"/>
            <a:ext cx="4121790" cy="515745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968" y="1399107"/>
            <a:ext cx="4128780" cy="515745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09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và để hở rang cửa có banh miệng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417" y="2114935"/>
            <a:ext cx="5436938" cy="3057829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80" y="2114936"/>
            <a:ext cx="5436139" cy="3057829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10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răng chụp bên trái – bên phải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197" y="2189583"/>
            <a:ext cx="5731121" cy="322310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02" y="2189357"/>
            <a:ext cx="5757155" cy="323872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11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xiên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ko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banh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môi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lấy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mặt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trong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mặt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nhai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từng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78078" y="1162437"/>
            <a:ext cx="4140004" cy="5518546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41294" y="1161310"/>
            <a:ext cx="4140004" cy="552080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12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và cắn ra trước đối đầu nhau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350" y="2015541"/>
            <a:ext cx="5396997" cy="303555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78" y="2015411"/>
            <a:ext cx="5396769" cy="303568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13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ra trước bên trái và bên phải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794" y="1825407"/>
            <a:ext cx="5468454" cy="307693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61" y="1825407"/>
            <a:ext cx="5575292" cy="3136102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14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Trượt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đối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đỉnh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răng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nanh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phải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238" y="2224975"/>
            <a:ext cx="5398942" cy="303767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92" y="2224975"/>
            <a:ext cx="5400869" cy="303711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15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 fontScale="90000"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Trượt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răng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nanh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sang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phải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trực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diện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, </a:t>
            </a:r>
            <a:b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</a:b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65" y="2536136"/>
            <a:ext cx="3718193" cy="209088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315" y="2536136"/>
            <a:ext cx="3717837" cy="209194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99" y="2536136"/>
            <a:ext cx="3720975" cy="2092807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16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Trượt răng nanh sang trái ảnh trực diện, </a:t>
            </a:r>
            <a:b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</a:br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và 2 bên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080" y="2355085"/>
            <a:ext cx="3755392" cy="211294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664" y="2358506"/>
            <a:ext cx="3749467" cy="2109522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73" y="2357535"/>
            <a:ext cx="3751742" cy="211049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17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và lùi hàm hết sức chụp dưới lên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36" y="2046625"/>
            <a:ext cx="5393095" cy="303287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541" y="2046625"/>
            <a:ext cx="5393095" cy="303353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18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Toàn bộ hàm trên qua gương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45" y="1480126"/>
            <a:ext cx="7321309" cy="488024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19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Chụp hàm dưới qua gương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392" y="1362031"/>
            <a:ext cx="7335215" cy="488948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20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Video chu trình nhai thật của bệnh nhân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IMG_3292 (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79008" y="1364584"/>
            <a:ext cx="8433984" cy="4744116"/>
          </a:xfrm>
          <a:prstGeom prst="rect">
            <a:avLst/>
          </a:prstGeom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21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099"/>
            <a:ext cx="6350000" cy="406400"/>
          </a:xfrm>
        </p:spPr>
        <p:txBody>
          <a:bodyPr lIns="0" tIns="0">
            <a:no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Tổng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hợp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khung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46" y="797766"/>
            <a:ext cx="1970315" cy="197031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504" y="802431"/>
            <a:ext cx="1965650" cy="196565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802431"/>
            <a:ext cx="1970315" cy="197031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697" y="797766"/>
            <a:ext cx="1973425" cy="197342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61" y="2813243"/>
            <a:ext cx="2341526" cy="131710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49" y="5488019"/>
            <a:ext cx="2342100" cy="131710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54" y="4150631"/>
            <a:ext cx="2341869" cy="131710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3055840"/>
            <a:ext cx="2798443" cy="1865387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661" y="3055839"/>
            <a:ext cx="2798461" cy="186538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334" y="5233405"/>
            <a:ext cx="2785788" cy="1566689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5229609"/>
            <a:ext cx="2798443" cy="157428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1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22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Khung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2,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chú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ý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góc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dưới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cùng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tiến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trước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phải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. 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4" y="719829"/>
            <a:ext cx="1970315" cy="197031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485" y="737339"/>
            <a:ext cx="1955993" cy="195599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66" y="734151"/>
            <a:ext cx="1955993" cy="195599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29" y="734151"/>
            <a:ext cx="1955993" cy="195599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352" y="5151565"/>
            <a:ext cx="2794126" cy="157216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487" y="5151565"/>
            <a:ext cx="2792819" cy="157096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04" y="2707443"/>
            <a:ext cx="2341795" cy="131710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080" y="5402554"/>
            <a:ext cx="2346119" cy="131997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03" y="4054978"/>
            <a:ext cx="2341796" cy="1317149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22253" y="2518484"/>
            <a:ext cx="2100816" cy="280034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41382" y="2516699"/>
            <a:ext cx="2096481" cy="279571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23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đường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thở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: 1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há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lớn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lưỡi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, 1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lè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lưỡi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lưỡi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. 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94" y="666649"/>
            <a:ext cx="2891058" cy="216788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483" y="2867365"/>
            <a:ext cx="2890510" cy="216788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94" y="2868832"/>
            <a:ext cx="2889320" cy="216732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992" y="2867365"/>
            <a:ext cx="2886257" cy="216495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483" y="666648"/>
            <a:ext cx="2890510" cy="216788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481" y="665182"/>
            <a:ext cx="2890768" cy="216788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482" y="5085480"/>
            <a:ext cx="2890767" cy="162601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42" y="5088114"/>
            <a:ext cx="2889320" cy="162484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341" y="5085480"/>
            <a:ext cx="2893652" cy="1627477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24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     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      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9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mm                              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7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mm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653" y="1483535"/>
            <a:ext cx="5829038" cy="437177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07" y="1483535"/>
            <a:ext cx="5830140" cy="437177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25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                            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13mm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671" y="1305518"/>
            <a:ext cx="6554658" cy="4915556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26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Xquang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104" y="1150776"/>
            <a:ext cx="9607791" cy="525067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27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Đường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thở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647" y="1113454"/>
            <a:ext cx="4970706" cy="552581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28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639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TMJ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cung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1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49" y="1690716"/>
            <a:ext cx="4751573" cy="3525022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671" y="1690717"/>
            <a:ext cx="3337237" cy="352502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357" y="1690688"/>
            <a:ext cx="3165098" cy="352505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29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258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TMJ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cung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2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90" y="1692978"/>
            <a:ext cx="5178703" cy="359371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272" y="1690688"/>
            <a:ext cx="3263553" cy="359600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204" y="1690688"/>
            <a:ext cx="3351249" cy="359600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7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30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486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 fontScale="90000"/>
          </a:bodyPr>
          <a:lstStyle/>
          <a:p>
            <a:pPr algn="ctr"/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Xem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cả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2826"/>
            <a:ext cx="5440594" cy="544059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440" y="982827"/>
            <a:ext cx="4938385" cy="544059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Nguyễn Vũ Bảo Ngọc - 1996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31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0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994</Words>
  <Application>Microsoft Office PowerPoint</Application>
  <PresentationFormat>Widescreen</PresentationFormat>
  <Paragraphs>129</Paragraphs>
  <Slides>31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Helvetica Neue</vt:lpstr>
      <vt:lpstr>Helvetica Neue Light</vt:lpstr>
      <vt:lpstr>Segoe UI</vt:lpstr>
      <vt:lpstr>Times New Roman</vt:lpstr>
      <vt:lpstr>Office Theme</vt:lpstr>
      <vt:lpstr>Nguyễn Vũ Bảo Ngọc - 1996</vt:lpstr>
      <vt:lpstr>Chief complain</vt:lpstr>
      <vt:lpstr>Dental history</vt:lpstr>
      <vt:lpstr>Ảnh đánh giá cột sống</vt:lpstr>
      <vt:lpstr>Ảnh ngoài mặt </vt:lpstr>
      <vt:lpstr>Ảnh góc nghiêng môi tự nhiên chụp cả 2 bên trái phải</vt:lpstr>
      <vt:lpstr>Khép môi kín và hơi hở môi thư giãn</vt:lpstr>
      <vt:lpstr>Cười tươi và vừa cười vừa há hở răng cửa dưới</vt:lpstr>
      <vt:lpstr>Cười lớn lộ răng chụp góc nghiêng</vt:lpstr>
      <vt:lpstr>Cắn chặt và để hở rang cửa có banh miệng</vt:lpstr>
      <vt:lpstr>Cắn chặt răng chụp bên trái – bên phải</vt:lpstr>
      <vt:lpstr>Chụp xiên ko banh môi lấy mặt trong và mặt nhai từng bên</vt:lpstr>
      <vt:lpstr>Cắn chặt và cắn ra trước đối đầu nhau</vt:lpstr>
      <vt:lpstr>Cắn ra trước bên trái và bên phải</vt:lpstr>
      <vt:lpstr>Trượt đối đỉnh răng nanh bên trái và bên phải</vt:lpstr>
      <vt:lpstr>Trượt răng nanh sang phải ảnh trực diện,  và 2 bên</vt:lpstr>
      <vt:lpstr>Trượt răng nanh sang trái ảnh trực diện,  và 2 bên</vt:lpstr>
      <vt:lpstr>Cắn chặt và lùi hàm hết sức chụp dưới lên</vt:lpstr>
      <vt:lpstr>Toàn bộ hàm trên qua gương</vt:lpstr>
      <vt:lpstr>Chụp hàm dưới qua gương</vt:lpstr>
      <vt:lpstr>Video chu trình nhai thật của bệnh nhân</vt:lpstr>
      <vt:lpstr>Tổng hợp ảnh vào 2 khung</vt:lpstr>
      <vt:lpstr>Khung 2, chú ý 2 ảnh góc dưới cùng 2 bên là tiến ra trước và chụp bên trái bên phải. </vt:lpstr>
      <vt:lpstr>2 ảnh đường thở: 1 ảnh há lớn chụp vào lưỡi gà, 1 ảnh lè lưỡi chụp vào lưỡi gà. </vt:lpstr>
      <vt:lpstr>             9mm                              7mm</vt:lpstr>
      <vt:lpstr>                             13mm</vt:lpstr>
      <vt:lpstr>Xquang </vt:lpstr>
      <vt:lpstr>Đường thở</vt:lpstr>
      <vt:lpstr>TMJ cung 1</vt:lpstr>
      <vt:lpstr>TMJ cung 2</vt:lpstr>
      <vt:lpstr>Xem cả 2 bên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Name: La Thục Nghi - 1988 </dc:title>
  <dc:creator>ADMIN</dc:creator>
  <cp:lastModifiedBy>PC</cp:lastModifiedBy>
  <cp:revision>55</cp:revision>
  <dcterms:created xsi:type="dcterms:W3CDTF">2026-08-02T07:22:00Z</dcterms:created>
  <dcterms:modified xsi:type="dcterms:W3CDTF">2026-09-19T05:32:10Z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C4F78B213D124498AD446A1FA004BA06_13</vt:lpwstr>
  </property>
  <property fmtid="{D5CDD505-2E9C-101B-9397-08002B2CF9AE}" pid="3" name="KSOProductBuildVer">
    <vt:lpwstr>1033-12.2.0.23196</vt:lpwstr>
  </property>
</Properties>
</file>