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69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0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5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00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2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11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11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51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3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9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28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2432C-C016-4D7F-BD92-F28F758A386D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51F32-7D94-4FD2-BD86-7501672920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45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0"/>
            <a:ext cx="5969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8000" y="406400"/>
            <a:ext cx="2222500" cy="584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82600"/>
            <a:ext cx="2019300" cy="431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8000" y="1295400"/>
            <a:ext cx="3556000" cy="330200"/>
          </a:xfrm>
          <a:prstGeom prst="roundRect">
            <a:avLst/>
          </a:prstGeom>
          <a:solidFill>
            <a:srgbClr val="E6F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HỒ SƠ BỆNH ÁN KHỚP THÁI DƯƠNG HÀM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727200"/>
            <a:ext cx="5588000" cy="81560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vi-VN" sz="2500" b="1" smtClean="0">
                <a:solidFill>
                  <a:srgbClr val="0E3F66"/>
                </a:solidFill>
                <a:latin typeface="Segoe UI" panose="020B0502040204020203" pitchFamily="34" charset="0"/>
              </a:rPr>
              <a:t>ĐIỀU TRỊ KHỚP THÁI DƯƠNG HÀM</a:t>
            </a:r>
          </a:p>
          <a:p>
            <a:r>
              <a:rPr lang="vi-VN" sz="1300" b="1" smtClean="0">
                <a:solidFill>
                  <a:srgbClr val="0082A6"/>
                </a:solidFill>
                <a:latin typeface="Segoe UI" panose="020B0502040204020203" pitchFamily="34" charset="0"/>
              </a:rPr>
              <a:t>TEMPOROMANDIBULAR </a:t>
            </a:r>
            <a:r>
              <a:rPr lang="vi-VN" sz="2500" b="1" smtClean="0">
                <a:solidFill>
                  <a:srgbClr val="0082A6"/>
                </a:solidFill>
                <a:latin typeface="Segoe UI" panose="020B0502040204020203" pitchFamily="34" charset="0"/>
              </a:rPr>
              <a:t>DISORDERS (TMD)</a:t>
            </a:r>
            <a:endParaRPr lang="en-GB" sz="2500" b="1">
              <a:solidFill>
                <a:srgbClr val="0082A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8000" y="3048000"/>
            <a:ext cx="5397500" cy="2921000"/>
          </a:xfrm>
          <a:prstGeom prst="roundRect">
            <a:avLst/>
          </a:prstGeom>
          <a:solidFill>
            <a:srgbClr val="FFFCFA"/>
          </a:solidFill>
          <a:ln w="19050">
            <a:solidFill>
              <a:srgbClr val="ECE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508000" y="3048000"/>
            <a:ext cx="5397500" cy="457200"/>
          </a:xfrm>
          <a:prstGeom prst="roundRect">
            <a:avLst/>
          </a:prstGeom>
          <a:solidFill>
            <a:srgbClr val="00A8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smtClean="0">
                <a:solidFill>
                  <a:srgbClr val="FFFFFF"/>
                </a:solidFill>
                <a:latin typeface="Segoe UI" panose="020B0502040204020203" pitchFamily="34" charset="0"/>
              </a:rPr>
              <a:t>  THÔNG TIN BỆNH NHÂN &amp; ĐIỀU TRỊ</a:t>
            </a:r>
            <a:endParaRPr lang="en-GB" sz="10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6600" y="3657600"/>
            <a:ext cx="5016500" cy="11772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vi-VN" sz="1300" b="1" smtClean="0">
                <a:solidFill>
                  <a:srgbClr val="0E3F66"/>
                </a:solidFill>
                <a:latin typeface="Segoe UI" panose="020B0502040204020203" pitchFamily="34" charset="0"/>
              </a:rPr>
              <a:t>Họ và tên: NGUYỄN VŨ BẢO NGỌC</a:t>
            </a:r>
          </a:p>
          <a:p>
            <a:endParaRPr lang="vi-VN" sz="1150" smtClean="0">
              <a:solidFill>
                <a:srgbClr val="3B291E"/>
              </a:solidFill>
              <a:latin typeface="Segoe UI" panose="020B0502040204020203" pitchFamily="34" charset="0"/>
            </a:endParaRPr>
          </a:p>
          <a:p>
            <a:r>
              <a:rPr lang="vi-VN" sz="1150" smtClean="0">
                <a:solidFill>
                  <a:srgbClr val="3B291E"/>
                </a:solidFill>
                <a:latin typeface="Segoe UI" panose="020B0502040204020203" pitchFamily="34" charset="0"/>
              </a:rPr>
              <a:t>Năm sinh: 1996</a:t>
            </a:r>
          </a:p>
          <a:p>
            <a:r>
              <a:rPr lang="vi-VN" sz="1150" smtClean="0">
                <a:solidFill>
                  <a:srgbClr val="3B291E"/>
                </a:solidFill>
                <a:latin typeface="Segoe UI" panose="020B0502040204020203" pitchFamily="34" charset="0"/>
              </a:rPr>
              <a:t>Bác sĩ điều trị: Dr. Lê Võ Yến Nhi</a:t>
            </a:r>
          </a:p>
          <a:p>
            <a:r>
              <a:rPr lang="vi-VN" sz="1150" smtClean="0">
                <a:solidFill>
                  <a:srgbClr val="3B291E"/>
                </a:solidFill>
                <a:latin typeface="Segoe UI" panose="020B0502040204020203" pitchFamily="34" charset="0"/>
              </a:rPr>
              <a:t>Cơ sở tiếp nhận: Tp. Hồ Chí Minh</a:t>
            </a:r>
          </a:p>
          <a:p>
            <a:r>
              <a:rPr lang="vi-VN" sz="1150" smtClean="0">
                <a:solidFill>
                  <a:srgbClr val="3B291E"/>
                </a:solidFill>
                <a:latin typeface="Segoe UI" panose="020B0502040204020203" pitchFamily="34" charset="0"/>
              </a:rPr>
              <a:t>Thời gian khám: Tháng 09 / 2026</a:t>
            </a:r>
            <a:endParaRPr lang="en-GB" sz="1150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8000" y="6197600"/>
            <a:ext cx="5461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50" b="1" smtClean="0">
                <a:solidFill>
                  <a:srgbClr val="68788A"/>
                </a:solidFill>
                <a:latin typeface="Segoe UI" panose="020B0502040204020203" pitchFamily="34" charset="0"/>
              </a:rPr>
              <a:t>NHA KHOA THÙY ANH • CHUYÊN KHOA ĐIỀU TRỊ KHỚP THÁI DƯƠNG HÀM</a:t>
            </a:r>
            <a:endParaRPr lang="en-GB" sz="850" b="1">
              <a:solidFill>
                <a:srgbClr val="68788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49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ounded Rectangle 2"/>
          <p:cNvSpPr/>
          <p:nvPr/>
        </p:nvSpPr>
        <p:spPr>
          <a:xfrm>
            <a:off x="190500" y="101600"/>
            <a:ext cx="18415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65100"/>
            <a:ext cx="1663700" cy="381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22500" y="177800"/>
            <a:ext cx="1714500" cy="330200"/>
          </a:xfrm>
          <a:prstGeom prst="roundRect">
            <a:avLst/>
          </a:prstGeom>
          <a:solidFill>
            <a:srgbClr val="E6F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KHÁM NGOÀI MẶT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4000" y="152400"/>
            <a:ext cx="4762500" cy="30008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vi-VN" sz="1650" b="1" smtClean="0">
                <a:solidFill>
                  <a:srgbClr val="0E3F66"/>
                </a:solidFill>
                <a:latin typeface="Segoe UI" panose="020B0502040204020203" pitchFamily="34" charset="0"/>
              </a:rPr>
              <a:t>Tư thế nghỉ tự nhiên (3 góc độ)</a:t>
            </a:r>
            <a:endParaRPr lang="en-GB" sz="165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53500" y="177800"/>
            <a:ext cx="3048000" cy="33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smtClean="0">
                <a:solidFill>
                  <a:srgbClr val="8B7464"/>
                </a:solidFill>
                <a:latin typeface="Segoe UI" panose="020B0502040204020203" pitchFamily="34" charset="0"/>
              </a:rPr>
              <a:t>BN: NGUYỄN VŨ BẢO NGỌC (1996)</a:t>
            </a:r>
            <a:endParaRPr lang="en-GB" sz="90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0500" y="812800"/>
            <a:ext cx="3835400" cy="543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863600"/>
            <a:ext cx="3733800" cy="4876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1000" y="5816600"/>
            <a:ext cx="3454400" cy="330200"/>
          </a:xfrm>
          <a:prstGeom prst="roundRect">
            <a:avLst/>
          </a:prstGeom>
          <a:solidFill>
            <a:srgbClr val="F9F5F1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smtClean="0">
                <a:solidFill>
                  <a:srgbClr val="3B291E"/>
                </a:solidFill>
                <a:latin typeface="Segoe UI" panose="020B0502040204020203" pitchFamily="34" charset="0"/>
              </a:rPr>
              <a:t>Ảnh 3: Nghiêng phải 90°</a:t>
            </a:r>
            <a:endParaRPr lang="en-GB" sz="1000" b="1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78300" y="812800"/>
            <a:ext cx="3835400" cy="543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0" y="863600"/>
            <a:ext cx="3733800" cy="4876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68800" y="5816600"/>
            <a:ext cx="3454400" cy="330200"/>
          </a:xfrm>
          <a:prstGeom prst="roundRect">
            <a:avLst/>
          </a:prstGeom>
          <a:solidFill>
            <a:srgbClr val="F9F5F1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smtClean="0">
                <a:solidFill>
                  <a:srgbClr val="3B291E"/>
                </a:solidFill>
                <a:latin typeface="Segoe UI" panose="020B0502040204020203" pitchFamily="34" charset="0"/>
              </a:rPr>
              <a:t>Ảnh 4: Trực diện nghỉ</a:t>
            </a:r>
            <a:endParaRPr lang="en-GB" sz="1000" b="1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66100" y="812800"/>
            <a:ext cx="3835400" cy="543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863600"/>
            <a:ext cx="3733800" cy="4876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56600" y="5816600"/>
            <a:ext cx="3454400" cy="330200"/>
          </a:xfrm>
          <a:prstGeom prst="roundRect">
            <a:avLst/>
          </a:prstGeom>
          <a:solidFill>
            <a:srgbClr val="F9F5F1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smtClean="0">
                <a:solidFill>
                  <a:srgbClr val="3B291E"/>
                </a:solidFill>
                <a:latin typeface="Segoe UI" panose="020B0502040204020203" pitchFamily="34" charset="0"/>
              </a:rPr>
              <a:t>Ảnh 5: Nghiêng trái 90°</a:t>
            </a:r>
            <a:endParaRPr lang="en-GB" sz="1000" b="1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451600"/>
            <a:ext cx="12192000" cy="38100"/>
          </a:xfrm>
          <a:prstGeom prst="rect">
            <a:avLst/>
          </a:prstGeom>
          <a:solidFill>
            <a:srgbClr val="00A8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190500" y="6527800"/>
            <a:ext cx="6985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vi-VN" sz="85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5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68000" y="6527800"/>
            <a:ext cx="1333500" cy="176972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3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FCFAF8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ounded Rectangle 2"/>
          <p:cNvSpPr/>
          <p:nvPr/>
        </p:nvSpPr>
        <p:spPr>
          <a:xfrm>
            <a:off x="190500" y="101600"/>
            <a:ext cx="18415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65100"/>
            <a:ext cx="1663700" cy="381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22500" y="177800"/>
            <a:ext cx="1841500" cy="330200"/>
          </a:xfrm>
          <a:prstGeom prst="roundRect">
            <a:avLst/>
          </a:prstGeom>
          <a:solidFill>
            <a:srgbClr val="E6F8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KHÁM TRONG MIỆNG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1000" y="152400"/>
            <a:ext cx="4635500" cy="30008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GB" sz="1650" b="1" smtClean="0">
                <a:solidFill>
                  <a:srgbClr val="0E3F66"/>
                </a:solidFill>
                <a:latin typeface="Segoe UI" panose="020B0502040204020203" pitchFamily="34" charset="0"/>
              </a:rPr>
              <a:t>Khớp cắn trực diện &amp; Để hở răng cửa</a:t>
            </a:r>
            <a:endParaRPr lang="en-GB" sz="165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53500" y="177800"/>
            <a:ext cx="3048000" cy="33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smtClean="0">
                <a:solidFill>
                  <a:srgbClr val="8B7464"/>
                </a:solidFill>
                <a:latin typeface="Segoe UI" panose="020B0502040204020203" pitchFamily="34" charset="0"/>
              </a:rPr>
              <a:t>BN: NGUYỄN VŨ BẢO NGỌC (1996)</a:t>
            </a:r>
            <a:endParaRPr lang="en-GB" sz="90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8600" y="812800"/>
            <a:ext cx="5791200" cy="543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863600"/>
            <a:ext cx="5689600" cy="4876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600" y="5816600"/>
            <a:ext cx="4775200" cy="330200"/>
          </a:xfrm>
          <a:prstGeom prst="roundRect">
            <a:avLst/>
          </a:prstGeom>
          <a:solidFill>
            <a:srgbClr val="F9F5F1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smtClean="0">
                <a:solidFill>
                  <a:srgbClr val="3B291E"/>
                </a:solidFill>
                <a:latin typeface="Segoe UI" panose="020B0502040204020203" pitchFamily="34" charset="0"/>
              </a:rPr>
              <a:t>Ảnh 13: Cắn chặt trực diện</a:t>
            </a:r>
            <a:endParaRPr lang="en-GB" sz="1050" b="1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812800"/>
            <a:ext cx="5791200" cy="543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863600"/>
            <a:ext cx="5689600" cy="4876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80200" y="5816600"/>
            <a:ext cx="4775200" cy="330200"/>
          </a:xfrm>
          <a:prstGeom prst="roundRect">
            <a:avLst/>
          </a:prstGeom>
          <a:solidFill>
            <a:srgbClr val="F9F5F1"/>
          </a:solidFill>
          <a:ln w="10160">
            <a:solidFill>
              <a:srgbClr val="E1D5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smtClean="0">
                <a:solidFill>
                  <a:srgbClr val="3B291E"/>
                </a:solidFill>
                <a:latin typeface="Segoe UI" panose="020B0502040204020203" pitchFamily="34" charset="0"/>
              </a:rPr>
              <a:t>Ảnh 14: Để hở răng cửa</a:t>
            </a:r>
            <a:endParaRPr lang="en-GB" sz="1050" b="1">
              <a:solidFill>
                <a:srgbClr val="3B291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451600"/>
            <a:ext cx="12192000" cy="38100"/>
          </a:xfrm>
          <a:prstGeom prst="rect">
            <a:avLst/>
          </a:prstGeom>
          <a:solidFill>
            <a:srgbClr val="00A85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90500" y="6527800"/>
            <a:ext cx="6985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vi-VN" sz="85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5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68000" y="6527800"/>
            <a:ext cx="1333500" cy="176972"/>
          </a:xfrm>
          <a:prstGeom prst="rect">
            <a:avLst/>
          </a:prstGeom>
          <a:noFill/>
        </p:spPr>
        <p:txBody>
          <a:bodyPr vert="horz" tIns="0" rIns="0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5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Custom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2026-09-19T04:06:26Z</dcterms:created>
  <dcterms:modified xsi:type="dcterms:W3CDTF">2026-09-19T04:06:26Z</dcterms:modified>
</cp:coreProperties>
</file>