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261" r:id="rId3"/>
    <p:sldId id="262" r:id="rId4"/>
    <p:sldId id="292" r:id="rId5"/>
    <p:sldId id="258" r:id="rId6"/>
    <p:sldId id="259" r:id="rId7"/>
    <p:sldId id="260" r:id="rId8"/>
    <p:sldId id="263" r:id="rId9"/>
    <p:sldId id="264" r:id="rId10"/>
    <p:sldId id="265" r:id="rId11"/>
    <p:sldId id="266" r:id="rId12"/>
    <p:sldId id="267" r:id="rId13"/>
    <p:sldId id="268" r:id="rId14"/>
    <p:sldId id="289" r:id="rId15"/>
    <p:sldId id="269" r:id="rId16"/>
    <p:sldId id="290" r:id="rId17"/>
    <p:sldId id="291" r:id="rId18"/>
    <p:sldId id="270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94" r:id="rId29"/>
    <p:sldId id="295" r:id="rId30"/>
    <p:sldId id="296" r:id="rId31"/>
    <p:sldId id="297" r:id="rId3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75526C-5D39-41B1-A833-0D9691804329}" type="datetimeFigureOut">
              <a:rPr lang="vi-VN" smtClean="0"/>
              <a:t>30/09/2026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E31BFE-FCE1-4DEE-8EBD-EAF0122805D1}" type="slidenum">
              <a:rPr lang="vi-VN" smtClean="0"/>
              <a:t>‹#›</a:t>
            </a:fld>
            <a:endParaRPr lang="vi-V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9703-B5EE-43C0-8AD3-866FE2E94C0F}" type="datetimeFigureOut">
              <a:rPr lang="vi-VN" smtClean="0"/>
              <a:t>30/09/2026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9703-B5EE-43C0-8AD3-866FE2E94C0F}" type="datetimeFigureOut">
              <a:rPr lang="vi-VN" smtClean="0"/>
              <a:t>30/09/2026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9703-B5EE-43C0-8AD3-866FE2E94C0F}" type="datetimeFigureOut">
              <a:rPr lang="vi-VN" smtClean="0"/>
              <a:t>30/09/2026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9703-B5EE-43C0-8AD3-866FE2E94C0F}" type="datetimeFigureOut">
              <a:rPr lang="vi-VN" smtClean="0"/>
              <a:t>30/09/2026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9703-B5EE-43C0-8AD3-866FE2E94C0F}" type="datetimeFigureOut">
              <a:rPr lang="vi-VN" smtClean="0"/>
              <a:t>30/09/2026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9703-B5EE-43C0-8AD3-866FE2E94C0F}" type="datetimeFigureOut">
              <a:rPr lang="vi-VN" smtClean="0"/>
              <a:t>30/09/2026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9703-B5EE-43C0-8AD3-866FE2E94C0F}" type="datetimeFigureOut">
              <a:rPr lang="vi-VN" smtClean="0"/>
              <a:t>30/09/2026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9703-B5EE-43C0-8AD3-866FE2E94C0F}" type="datetimeFigureOut">
              <a:rPr lang="vi-VN" smtClean="0"/>
              <a:t>30/09/2026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9703-B5EE-43C0-8AD3-866FE2E94C0F}" type="datetimeFigureOut">
              <a:rPr lang="vi-VN" smtClean="0"/>
              <a:t>30/09/2026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9703-B5EE-43C0-8AD3-866FE2E94C0F}" type="datetimeFigureOut">
              <a:rPr lang="vi-VN" smtClean="0"/>
              <a:t>30/09/2026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9703-B5EE-43C0-8AD3-866FE2E94C0F}" type="datetimeFigureOut">
              <a:rPr lang="vi-VN" smtClean="0"/>
              <a:t>30/09/2026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 type="tx">
  <p:cSld name="Title &amp; Bullets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9"/>
          <p:cNvSpPr txBox="1">
            <a:spLocks noGrp="1"/>
          </p:cNvSpPr>
          <p:nvPr>
            <p:ph type="title"/>
          </p:nvPr>
        </p:nvSpPr>
        <p:spPr>
          <a:xfrm>
            <a:off x="844550" y="177800"/>
            <a:ext cx="105029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9"/>
          <p:cNvSpPr txBox="1">
            <a:spLocks noGrp="1"/>
          </p:cNvSpPr>
          <p:nvPr>
            <p:ph type="body" idx="1"/>
          </p:nvPr>
        </p:nvSpPr>
        <p:spPr>
          <a:xfrm>
            <a:off x="844550" y="1574800"/>
            <a:ext cx="105029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228600" lvl="0" indent="-30480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2400"/>
            </a:lvl1pPr>
            <a:lvl2pPr marL="457200" lvl="1" indent="-30480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2400"/>
            </a:lvl2pPr>
            <a:lvl3pPr marL="685800" lvl="2" indent="-30480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2400"/>
            </a:lvl3pPr>
            <a:lvl4pPr marL="914400" lvl="3" indent="-30480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2400"/>
            </a:lvl4pPr>
            <a:lvl5pPr marL="1143000" lvl="4" indent="-30480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2400"/>
            </a:lvl5pPr>
            <a:lvl6pPr marL="1371600" lvl="5" indent="-186055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marL="1600200" lvl="6" indent="-186055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marL="1828800" lvl="7" indent="-186055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marL="2057400" lvl="8" indent="-186055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29"/>
          <p:cNvSpPr txBox="1">
            <a:spLocks noGrp="1"/>
          </p:cNvSpPr>
          <p:nvPr>
            <p:ph type="sldNum" idx="12"/>
          </p:nvPr>
        </p:nvSpPr>
        <p:spPr>
          <a:xfrm>
            <a:off x="5979516" y="6540500"/>
            <a:ext cx="226619" cy="656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49703-B5EE-43C0-8AD3-866FE2E94C0F}" type="datetimeFigureOut">
              <a:rPr lang="vi-VN" smtClean="0"/>
              <a:t>30/09/2026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222500"/>
            <a:ext cx="10668000" cy="825500"/>
          </a:xfrm>
        </p:spPr>
        <p:txBody>
          <a:bodyPr>
            <a:normAutofit/>
          </a:bodyPr>
          <a:lstStyle/>
          <a:p>
            <a:pPr algn="l"/>
            <a:r>
              <a:rPr lang="it-IT" sz="4000" b="1" smtClean="0">
                <a:solidFill>
                  <a:srgbClr val="0E3F66"/>
                </a:solidFill>
                <a:latin typeface="Segoe UI" panose="020B0502040204020203" pitchFamily="34" charset="0"/>
                <a:ea typeface="Helvetica Neue"/>
                <a:cs typeface="Helvetica Neue"/>
                <a:sym typeface="Helvetica Neue"/>
              </a:rPr>
              <a:t>Test Blank - 2000</a:t>
            </a:r>
            <a:endParaRPr lang="en-US" sz="4000" b="1" i="0" u="none" strike="noStrike" cap="none" dirty="0">
              <a:solidFill>
                <a:srgbClr val="0E3F66"/>
              </a:solidFill>
              <a:latin typeface="Segoe UI" panose="020B0502040204020203" pitchFamily="34" charset="0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238500"/>
            <a:ext cx="10668000" cy="1079500"/>
          </a:xfrm>
        </p:spPr>
        <p:txBody>
          <a:bodyPr>
            <a:normAutofit/>
          </a:bodyPr>
          <a:lstStyle/>
          <a:p>
            <a:pPr algn="l"/>
            <a:r>
              <a:rPr lang="en-US" sz="1800" smtClean="0">
                <a:solidFill>
                  <a:srgbClr val="64748B"/>
                </a:solidFill>
                <a:latin typeface="Segoe UI" panose="020B0502040204020203" pitchFamily="34" charset="0"/>
              </a:rPr>
              <a:t>Doctor Test</a:t>
            </a:r>
          </a:p>
          <a:p>
            <a:pPr algn="l"/>
            <a:r>
              <a:rPr lang="en-US" sz="1800" smtClean="0">
                <a:solidFill>
                  <a:srgbClr val="64748B"/>
                </a:solidFill>
                <a:latin typeface="Segoe UI" panose="020B0502040204020203" pitchFamily="34" charset="0"/>
              </a:rPr>
              <a:t>Cơ sở Tp. Hồ Chí Minh</a:t>
            </a:r>
            <a:endParaRPr lang="vi-VN" sz="1800" dirty="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BRAND_COVTAG"/>
          <p:cNvSpPr/>
          <p:nvPr/>
        </p:nvSpPr>
        <p:spPr>
          <a:xfrm>
            <a:off x="762000" y="1651000"/>
            <a:ext cx="3683000" cy="381000"/>
          </a:xfrm>
          <a:prstGeom prst="roundRect">
            <a:avLst/>
          </a:prstGeom>
          <a:solidFill>
            <a:srgbClr val="E6F8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950" b="1" smtClean="0">
                <a:solidFill>
                  <a:srgbClr val="00732A"/>
                </a:solidFill>
                <a:latin typeface="Segoe UI" panose="020B0502040204020203" pitchFamily="34" charset="0"/>
              </a:rPr>
              <a:t>HỒ SƠ BỆNH ÁN KHỚP THÁI DƯƠNG HÀM</a:t>
            </a:r>
            <a:endParaRPr lang="en-GB" sz="950" b="1">
              <a:solidFill>
                <a:srgbClr val="00732A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BRAND_LOGO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571500"/>
            <a:ext cx="2413000" cy="609600"/>
          </a:xfrm>
          <a:prstGeom prst="rect">
            <a:avLst/>
          </a:prstGeom>
        </p:spPr>
      </p:pic>
      <p:sp>
        <p:nvSpPr>
          <p:cNvPr id="6" name="BRAND_FOOT"/>
          <p:cNvSpPr txBox="1"/>
          <p:nvPr/>
        </p:nvSpPr>
        <p:spPr>
          <a:xfrm>
            <a:off x="762000" y="6159500"/>
            <a:ext cx="762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9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HỆ THỐNG NHA KHOA CHUYÊN SÂU</a:t>
            </a:r>
            <a:endParaRPr lang="en-GB" sz="9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"/>
          <p:cNvSpPr txBox="1"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25400" bIns="25400" rtlCol="0" anchor="ctr" anchorCtr="0">
            <a:normAutofit/>
          </a:bodyPr>
          <a:lstStyle/>
          <a:p>
            <a:pPr>
              <a:buSzPts val="11200"/>
            </a:pPr>
            <a:r>
              <a:rPr lang="en-US" sz="2000" b="1">
                <a:solidFill>
                  <a:srgbClr val="0E3F66"/>
                </a:solidFill>
                <a:latin typeface="Segoe UI" panose="020B0502040204020203" pitchFamily="34" charset="0"/>
                <a:ea typeface="Helvetica Neue"/>
                <a:cs typeface="Helvetica Neue"/>
                <a:sym typeface="Helvetica Neue"/>
              </a:rPr>
              <a:t>Chief complain</a:t>
            </a:r>
          </a:p>
        </p:txBody>
      </p:sp>
      <p:sp>
        <p:nvSpPr>
          <p:cNvPr id="82" name="Google Shape;82;p2"/>
          <p:cNvSpPr txBox="1">
            <a:spLocks noGrp="1"/>
          </p:cNvSpPr>
          <p:nvPr>
            <p:ph type="body" idx="1"/>
          </p:nvPr>
        </p:nvSpPr>
        <p:spPr>
          <a:xfrm>
            <a:off x="762000" y="952500"/>
            <a:ext cx="10668000" cy="5080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ctr" anchorCtr="0">
            <a:normAutofit/>
          </a:bodyPr>
          <a:lstStyle/>
          <a:p>
            <a:pPr marL="317500" indent="-317500">
              <a:spcBef>
                <a:spcPts val="0"/>
              </a:spcBef>
            </a:pPr>
            <a:r>
              <a:rPr lang="en-US" sz="1500">
                <a:solidFill>
                  <a:srgbClr val="554133"/>
                </a:solidFill>
                <a:latin typeface="Segoe UI" panose="020B0502040204020203" pitchFamily="34" charset="0"/>
              </a:rPr>
              <a:t>Pain in the left jaw angle</a:t>
            </a:r>
          </a:p>
          <a:p>
            <a:pPr marL="0" indent="0">
              <a:spcBef>
                <a:spcPts val="0"/>
              </a:spcBef>
              <a:buNone/>
            </a:pPr>
            <a:endParaRPr lang="en-US" sz="1500" dirty="0">
              <a:solidFill>
                <a:srgbClr val="554133"/>
              </a:solidFill>
              <a:latin typeface="Segoe UI" panose="020B0502040204020203" pitchFamily="34" charset="0"/>
            </a:endParaRPr>
          </a:p>
          <a:p>
            <a:pPr marL="317500" indent="-317500">
              <a:spcBef>
                <a:spcPts val="0"/>
              </a:spcBef>
            </a:pPr>
            <a:r>
              <a:rPr lang="en-US" sz="1500">
                <a:solidFill>
                  <a:srgbClr val="554133"/>
                </a:solidFill>
                <a:latin typeface="Segoe UI" panose="020B0502040204020203" pitchFamily="34" charset="0"/>
              </a:rPr>
              <a:t>Clenching teeth while sleeping</a:t>
            </a:r>
          </a:p>
          <a:p>
            <a:pPr marL="317500" indent="-317500">
              <a:spcBef>
                <a:spcPts val="0"/>
              </a:spcBef>
            </a:pPr>
            <a:endParaRPr lang="en-US" sz="1500">
              <a:solidFill>
                <a:srgbClr val="554133"/>
              </a:solidFill>
              <a:latin typeface="Segoe UI" panose="020B0502040204020203" pitchFamily="34" charset="0"/>
            </a:endParaRPr>
          </a:p>
          <a:p>
            <a:pPr marL="317500" indent="-317500">
              <a:spcBef>
                <a:spcPts val="0"/>
              </a:spcBef>
            </a:pPr>
            <a:r>
              <a:rPr lang="en-US" sz="1500">
                <a:solidFill>
                  <a:srgbClr val="554133"/>
                </a:solidFill>
                <a:latin typeface="Segoe UI" panose="020B0502040204020203" pitchFamily="34" charset="0"/>
              </a:rPr>
              <a:t>No HeadacheNo clicking </a:t>
            </a:r>
            <a:r>
              <a:rPr lang="en-US" sz="1500" dirty="0">
                <a:solidFill>
                  <a:srgbClr val="554133"/>
                </a:solidFill>
                <a:latin typeface="Segoe UI" panose="020B0502040204020203" pitchFamily="34" charset="0"/>
              </a:rPr>
              <a:t>sound both sides</a:t>
            </a:r>
            <a:endParaRPr sz="1500" dirty="0">
              <a:solidFill>
                <a:srgbClr val="554133"/>
              </a:solidFill>
              <a:latin typeface="Segoe UI" panose="020B0502040204020203" pitchFamily="34" charset="0"/>
            </a:endParaRPr>
          </a:p>
          <a:p>
            <a:pPr marL="317500" indent="-317500"/>
            <a:r>
              <a:rPr lang="en-US" sz="1500">
                <a:solidFill>
                  <a:srgbClr val="554133"/>
                </a:solidFill>
                <a:latin typeface="Segoe UI" panose="020B0502040204020203" pitchFamily="34" charset="0"/>
              </a:rPr>
              <a:t>No neck </a:t>
            </a:r>
            <a:r>
              <a:rPr lang="en-US" sz="1500" dirty="0">
                <a:solidFill>
                  <a:srgbClr val="554133"/>
                </a:solidFill>
                <a:latin typeface="Segoe UI" panose="020B0502040204020203" pitchFamily="34" charset="0"/>
              </a:rPr>
              <a:t>and shoulder pain</a:t>
            </a:r>
            <a:endParaRPr sz="1500" dirty="0">
              <a:solidFill>
                <a:srgbClr val="554133"/>
              </a:solidFill>
              <a:latin typeface="Segoe UI" panose="020B0502040204020203" pitchFamily="34" charset="0"/>
            </a:endParaRPr>
          </a:p>
        </p:txBody>
      </p:sp>
      <p:pic>
        <p:nvPicPr>
          <p:cNvPr id="2" name="BRAND_LOGO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3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02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"/>
          <p:cNvSpPr txBox="1"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25400" bIns="25400" rtlCol="0" anchor="ctr" anchorCtr="0">
            <a:normAutofit/>
          </a:bodyPr>
          <a:lstStyle/>
          <a:p>
            <a:pPr>
              <a:buSzPts val="11200"/>
            </a:pPr>
            <a:r>
              <a:rPr lang="en-US" sz="2000" b="1">
                <a:solidFill>
                  <a:srgbClr val="0E3F66"/>
                </a:solidFill>
                <a:latin typeface="Segoe UI" panose="020B0502040204020203" pitchFamily="34" charset="0"/>
                <a:ea typeface="Helvetica Neue"/>
                <a:cs typeface="Helvetica Neue"/>
                <a:sym typeface="Helvetica Neue"/>
              </a:rPr>
              <a:t>Dental history</a:t>
            </a:r>
          </a:p>
        </p:txBody>
      </p:sp>
      <p:sp>
        <p:nvSpPr>
          <p:cNvPr id="88" name="Google Shape;88;p3"/>
          <p:cNvSpPr txBox="1">
            <a:spLocks noGrp="1"/>
          </p:cNvSpPr>
          <p:nvPr>
            <p:ph type="body" idx="1"/>
          </p:nvPr>
        </p:nvSpPr>
        <p:spPr>
          <a:xfrm>
            <a:off x="762000" y="952500"/>
            <a:ext cx="10668000" cy="5080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ctr" anchorCtr="0">
            <a:normAutofit/>
          </a:bodyPr>
          <a:lstStyle/>
          <a:p>
            <a:pPr marL="317500" indent="-317500">
              <a:spcBef>
                <a:spcPts val="0"/>
              </a:spcBef>
            </a:pPr>
            <a:endParaRPr sz="1500" dirty="0">
              <a:solidFill>
                <a:srgbClr val="554133"/>
              </a:solidFill>
              <a:latin typeface="Segoe UI" panose="020B0502040204020203" pitchFamily="34" charset="0"/>
            </a:endParaRPr>
          </a:p>
        </p:txBody>
      </p:sp>
      <p:pic>
        <p:nvPicPr>
          <p:cNvPr id="2" name="BRAND_LOGO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3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03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Ảnh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đánh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giá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cột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sống</a:t>
            </a:r>
            <a:endParaRPr lang="vi-VN" sz="1600" b="1" dirty="0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BRAND_LOGO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6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Test Blank - 2000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04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>
                <a:solidFill>
                  <a:srgbClr val="0E3F66"/>
                </a:solidFill>
                <a:latin typeface="Segoe UI" panose="020B0502040204020203" pitchFamily="34" charset="0"/>
              </a:rPr>
              <a:t>Ảnh ngoài mặt </a:t>
            </a:r>
            <a:endParaRPr lang="vi-VN" sz="1600" b="1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BRAND_LOGO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6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Test Blank - 2000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05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>
                <a:solidFill>
                  <a:srgbClr val="0E3F66"/>
                </a:solidFill>
                <a:latin typeface="Segoe UI" panose="020B0502040204020203" pitchFamily="34" charset="0"/>
              </a:rPr>
              <a:t>Ảnh góc nghiêng môi tự nhiên chụp cả 2 bên trái phải</a:t>
            </a:r>
            <a:endParaRPr lang="vi-VN" sz="1600" b="1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3" name="BRAND_LOGO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4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Test Blank - 2000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06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>
                <a:solidFill>
                  <a:srgbClr val="0E3F66"/>
                </a:solidFill>
                <a:latin typeface="Segoe UI" panose="020B0502040204020203" pitchFamily="34" charset="0"/>
              </a:rPr>
              <a:t>Khép môi kín và hơi hở môi thư giãn</a:t>
            </a:r>
            <a:endParaRPr lang="vi-VN" sz="1600" b="1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3" name="BRAND_LOGO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4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Test Blank - 2000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07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Cười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tươi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và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vừa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cười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vừa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há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hở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răng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cửa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 smtClean="0">
                <a:solidFill>
                  <a:srgbClr val="0E3F66"/>
                </a:solidFill>
                <a:latin typeface="Segoe UI" panose="020B0502040204020203" pitchFamily="34" charset="0"/>
              </a:rPr>
              <a:t>dưới</a:t>
            </a:r>
            <a:endParaRPr lang="vi-VN" sz="1600" b="1" dirty="0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3" name="BRAND_LOGO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4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Test Blank - 2000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08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>
                <a:solidFill>
                  <a:srgbClr val="0E3F66"/>
                </a:solidFill>
                <a:latin typeface="Segoe UI" panose="020B0502040204020203" pitchFamily="34" charset="0"/>
              </a:rPr>
              <a:t>Cười lớn lộ răng chụp góc nghiêng</a:t>
            </a:r>
            <a:endParaRPr lang="vi-VN" sz="1600" b="1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3" name="BRAND_LOGO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5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Test Blank - 2000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09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>
                <a:solidFill>
                  <a:srgbClr val="0E3F66"/>
                </a:solidFill>
                <a:latin typeface="Segoe UI" panose="020B0502040204020203" pitchFamily="34" charset="0"/>
              </a:rPr>
              <a:t>Cắn chặt và để hở rang cửa có banh miệng</a:t>
            </a:r>
            <a:endParaRPr lang="vi-VN" sz="1600" b="1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3" name="BRAND_LOGO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5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Test Blank - 2000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10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>
                <a:solidFill>
                  <a:srgbClr val="0E3F66"/>
                </a:solidFill>
                <a:latin typeface="Segoe UI" panose="020B0502040204020203" pitchFamily="34" charset="0"/>
              </a:rPr>
              <a:t>Cắn chặt răng chụp bên trái – bên phải</a:t>
            </a:r>
            <a:endParaRPr lang="vi-VN" sz="1600" b="1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BRAND_LOGO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6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Test Blank - 2000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11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Chụp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xiên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ko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banh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môi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lấy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mặt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trong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và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mặt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 smtClean="0">
                <a:solidFill>
                  <a:srgbClr val="0E3F66"/>
                </a:solidFill>
                <a:latin typeface="Segoe UI" panose="020B0502040204020203" pitchFamily="34" charset="0"/>
              </a:rPr>
              <a:t>nhai</a:t>
            </a:r>
            <a:r>
              <a:rPr lang="en-US" sz="1600" b="1" dirty="0" smtClean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 smtClean="0">
                <a:solidFill>
                  <a:srgbClr val="0E3F66"/>
                </a:solidFill>
                <a:latin typeface="Segoe UI" panose="020B0502040204020203" pitchFamily="34" charset="0"/>
              </a:rPr>
              <a:t>từng</a:t>
            </a:r>
            <a:r>
              <a:rPr lang="en-US" sz="1600" b="1" dirty="0" smtClean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bên</a:t>
            </a:r>
            <a:endParaRPr lang="vi-VN" sz="1600" b="1" dirty="0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3" name="BRAND_LOGO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4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Test Blank - 2000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12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>
                <a:solidFill>
                  <a:srgbClr val="0E3F66"/>
                </a:solidFill>
                <a:latin typeface="Segoe UI" panose="020B0502040204020203" pitchFamily="34" charset="0"/>
              </a:rPr>
              <a:t>Cắn chặt và cắn ra trước đối đầu nhau</a:t>
            </a:r>
            <a:endParaRPr lang="vi-VN" sz="1600" b="1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3" name="BRAND_LOGO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6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Test Blank - 2000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13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>
                <a:solidFill>
                  <a:srgbClr val="0E3F66"/>
                </a:solidFill>
                <a:latin typeface="Segoe UI" panose="020B0502040204020203" pitchFamily="34" charset="0"/>
              </a:rPr>
              <a:t>Cắn ra trước bên trái và bên phải</a:t>
            </a:r>
            <a:endParaRPr lang="vi-VN" sz="1600" b="1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3" name="BRAND_LOGO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5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Test Blank - 2000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14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Trượt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đối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đỉnh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răng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nanh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bên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trái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và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bên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 smtClean="0">
                <a:solidFill>
                  <a:srgbClr val="0E3F66"/>
                </a:solidFill>
                <a:latin typeface="Segoe UI" panose="020B0502040204020203" pitchFamily="34" charset="0"/>
              </a:rPr>
              <a:t>phải</a:t>
            </a:r>
            <a:endParaRPr lang="vi-VN" sz="1600" b="1" dirty="0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BRAND_LOGO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6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Test Blank - 2000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15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 fontScale="90000"/>
          </a:bodyPr>
          <a:lstStyle/>
          <a:p>
            <a:pPr algn="ctr"/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Trượt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răng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nanh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sang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phải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ảnh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trực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diện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, </a:t>
            </a:r>
            <a:b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</a:b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và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2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bên</a:t>
            </a:r>
            <a:endParaRPr lang="vi-VN" sz="1600" b="1" dirty="0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3" name="BRAND_LOGO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4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Test Blank - 2000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16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>
                <a:solidFill>
                  <a:srgbClr val="0E3F66"/>
                </a:solidFill>
                <a:latin typeface="Segoe UI" panose="020B0502040204020203" pitchFamily="34" charset="0"/>
              </a:rPr>
              <a:t>Trượt răng nanh sang trái ảnh trực diện, </a:t>
            </a:r>
            <a:br>
              <a:rPr lang="en-US" sz="1600" b="1">
                <a:solidFill>
                  <a:srgbClr val="0E3F66"/>
                </a:solidFill>
                <a:latin typeface="Segoe UI" panose="020B0502040204020203" pitchFamily="34" charset="0"/>
              </a:rPr>
            </a:br>
            <a:r>
              <a:rPr lang="en-US" sz="1600" b="1">
                <a:solidFill>
                  <a:srgbClr val="0E3F66"/>
                </a:solidFill>
                <a:latin typeface="Segoe UI" panose="020B0502040204020203" pitchFamily="34" charset="0"/>
              </a:rPr>
              <a:t>và 2 bên</a:t>
            </a:r>
            <a:endParaRPr lang="vi-VN" sz="1600" b="1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3" name="BRAND_LOGO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5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Test Blank - 2000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17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>
                <a:solidFill>
                  <a:srgbClr val="0E3F66"/>
                </a:solidFill>
                <a:latin typeface="Segoe UI" panose="020B0502040204020203" pitchFamily="34" charset="0"/>
              </a:rPr>
              <a:t>Cắn chặt và lùi hàm hết sức chụp dưới lên</a:t>
            </a:r>
            <a:endParaRPr lang="vi-VN" sz="1600" b="1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BRAND_LOGO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6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Test Blank - 2000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18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>
                <a:solidFill>
                  <a:srgbClr val="0E3F66"/>
                </a:solidFill>
                <a:latin typeface="Segoe UI" panose="020B0502040204020203" pitchFamily="34" charset="0"/>
              </a:rPr>
              <a:t>Toàn bộ hàm trên qua gương</a:t>
            </a:r>
            <a:endParaRPr lang="vi-VN" sz="1600" b="1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4" name="BRAND_LOGO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5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Test Blank - 2000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19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>
                <a:solidFill>
                  <a:srgbClr val="0E3F66"/>
                </a:solidFill>
                <a:latin typeface="Segoe UI" panose="020B0502040204020203" pitchFamily="34" charset="0"/>
              </a:rPr>
              <a:t>Chụp hàm dưới qua gương</a:t>
            </a:r>
            <a:endParaRPr lang="vi-VN" sz="1600" b="1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3" name="BRAND_LOGO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5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Test Blank - 2000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20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>
                <a:solidFill>
                  <a:srgbClr val="0E3F66"/>
                </a:solidFill>
                <a:latin typeface="Segoe UI" panose="020B0502040204020203" pitchFamily="34" charset="0"/>
              </a:rPr>
              <a:t>Video chu trình nhai thật của bệnh nhân</a:t>
            </a:r>
            <a:endParaRPr lang="vi-VN" sz="1600" b="1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3" name="BRAND_LOGO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5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Test Blank - 2000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21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099"/>
            <a:ext cx="6350000" cy="406400"/>
          </a:xfrm>
        </p:spPr>
        <p:txBody>
          <a:bodyPr lIns="0" tIns="0">
            <a:noAutofit/>
          </a:bodyPr>
          <a:lstStyle/>
          <a:p>
            <a:pPr algn="ctr"/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Tổng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hợp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ảnh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vào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2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khung</a:t>
            </a:r>
            <a:endParaRPr lang="vi-VN" sz="1600" b="1" dirty="0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BRAND_LOGO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15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Test Blank - 2000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22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Autofit/>
          </a:bodyPr>
          <a:lstStyle/>
          <a:p>
            <a:pPr algn="ctr"/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Khung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2,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chú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ý 2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ảnh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góc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dưới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cùng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2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bên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là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tiến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ra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trước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và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chụp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bên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trái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bên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phải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. </a:t>
            </a:r>
            <a:endParaRPr lang="vi-VN" sz="1600" b="1" dirty="0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3" name="BRAND_LOGO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4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Test Blank - 2000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23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2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ảnh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đường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thở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: 1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ảnh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há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lớn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chụp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vào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lưỡi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gà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, 1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ảnh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lè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lưỡi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chụp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vào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lưỡi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gà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. </a:t>
            </a:r>
            <a:endParaRPr lang="vi-VN" sz="1600" b="1" dirty="0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3" name="BRAND_LOGO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4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Test Blank - 2000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24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     </a:t>
            </a:r>
            <a:r>
              <a:rPr lang="en-US" sz="1600" b="1" dirty="0" smtClean="0">
                <a:solidFill>
                  <a:srgbClr val="0E3F66"/>
                </a:solidFill>
                <a:latin typeface="Segoe UI" panose="020B0502040204020203" pitchFamily="34" charset="0"/>
              </a:rPr>
              <a:t>       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9</a:t>
            </a:r>
            <a:r>
              <a:rPr lang="en-US" sz="1600" b="1" dirty="0" smtClean="0">
                <a:solidFill>
                  <a:srgbClr val="0E3F66"/>
                </a:solidFill>
                <a:latin typeface="Segoe UI" panose="020B0502040204020203" pitchFamily="34" charset="0"/>
              </a:rPr>
              <a:t>mm                              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7</a:t>
            </a:r>
            <a:r>
              <a:rPr lang="en-US" sz="1600" b="1" dirty="0" smtClean="0">
                <a:solidFill>
                  <a:srgbClr val="0E3F66"/>
                </a:solidFill>
                <a:latin typeface="Segoe UI" panose="020B0502040204020203" pitchFamily="34" charset="0"/>
              </a:rPr>
              <a:t>mm</a:t>
            </a:r>
            <a:endParaRPr lang="vi-VN" sz="1600" b="1" dirty="0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BRAND_LOGO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6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Test Blank - 2000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25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                            </a:t>
            </a:r>
            <a:r>
              <a:rPr lang="en-US" sz="1600" b="1" dirty="0" smtClean="0">
                <a:solidFill>
                  <a:srgbClr val="0E3F66"/>
                </a:solidFill>
                <a:latin typeface="Segoe UI" panose="020B0502040204020203" pitchFamily="34" charset="0"/>
              </a:rPr>
              <a:t>13mm</a:t>
            </a:r>
            <a:endParaRPr lang="vi-VN" sz="1600" b="1" dirty="0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4" name="BRAND_LOGO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5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Test Blank - 2000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26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Xquang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endParaRPr lang="vi-VN" sz="1600" b="1" dirty="0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4" name="BRAND_LOGO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5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Test Blank - 2000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27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 dirty="0" err="1" smtClean="0">
                <a:solidFill>
                  <a:srgbClr val="0E3F66"/>
                </a:solidFill>
                <a:latin typeface="Segoe UI" panose="020B0502040204020203" pitchFamily="34" charset="0"/>
              </a:rPr>
              <a:t>Đường</a:t>
            </a:r>
            <a:r>
              <a:rPr lang="en-US" sz="1600" b="1" dirty="0" smtClean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 smtClean="0">
                <a:solidFill>
                  <a:srgbClr val="0E3F66"/>
                </a:solidFill>
                <a:latin typeface="Segoe UI" panose="020B0502040204020203" pitchFamily="34" charset="0"/>
              </a:rPr>
              <a:t>thở</a:t>
            </a:r>
            <a:endParaRPr lang="en-GB" sz="1600" b="1" dirty="0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4" name="BRAND_LOGO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5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Test Blank - 2000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28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86397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 dirty="0" smtClean="0">
                <a:solidFill>
                  <a:srgbClr val="0E3F66"/>
                </a:solidFill>
                <a:latin typeface="Segoe UI" panose="020B0502040204020203" pitchFamily="34" charset="0"/>
              </a:rPr>
              <a:t>TMJ </a:t>
            </a:r>
            <a:r>
              <a:rPr lang="en-US" sz="1600" b="1" dirty="0" err="1" smtClean="0">
                <a:solidFill>
                  <a:srgbClr val="0E3F66"/>
                </a:solidFill>
                <a:latin typeface="Segoe UI" panose="020B0502040204020203" pitchFamily="34" charset="0"/>
              </a:rPr>
              <a:t>cung</a:t>
            </a:r>
            <a:r>
              <a:rPr lang="en-US" sz="1600" b="1" dirty="0" smtClean="0">
                <a:solidFill>
                  <a:srgbClr val="0E3F66"/>
                </a:solidFill>
                <a:latin typeface="Segoe UI" panose="020B0502040204020203" pitchFamily="34" charset="0"/>
              </a:rPr>
              <a:t> 1</a:t>
            </a:r>
            <a:endParaRPr lang="en-GB" sz="1600" b="1" dirty="0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BRAND_LOGO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6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Test Blank - 2000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29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12588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 dirty="0" smtClean="0">
                <a:solidFill>
                  <a:srgbClr val="0E3F66"/>
                </a:solidFill>
                <a:latin typeface="Segoe UI" panose="020B0502040204020203" pitchFamily="34" charset="0"/>
              </a:rPr>
              <a:t>TMJ </a:t>
            </a:r>
            <a:r>
              <a:rPr lang="en-US" sz="1600" b="1" dirty="0" err="1" smtClean="0">
                <a:solidFill>
                  <a:srgbClr val="0E3F66"/>
                </a:solidFill>
                <a:latin typeface="Segoe UI" panose="020B0502040204020203" pitchFamily="34" charset="0"/>
              </a:rPr>
              <a:t>cung</a:t>
            </a:r>
            <a:r>
              <a:rPr lang="en-US" sz="1600" b="1" dirty="0" smtClean="0">
                <a:solidFill>
                  <a:srgbClr val="0E3F66"/>
                </a:solidFill>
                <a:latin typeface="Segoe UI" panose="020B0502040204020203" pitchFamily="34" charset="0"/>
              </a:rPr>
              <a:t> 2</a:t>
            </a:r>
            <a:endParaRPr lang="en-GB" sz="1600" b="1" dirty="0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6" name="BRAND_LOGO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7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Test Blank - 2000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30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84863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 fontScale="90000"/>
          </a:bodyPr>
          <a:lstStyle/>
          <a:p>
            <a:pPr algn="ctr"/>
            <a:r>
              <a:rPr lang="en-US" sz="1600" b="1" dirty="0" err="1" smtClean="0">
                <a:solidFill>
                  <a:srgbClr val="0E3F66"/>
                </a:solidFill>
                <a:latin typeface="Segoe UI" panose="020B0502040204020203" pitchFamily="34" charset="0"/>
              </a:rPr>
              <a:t>Xem</a:t>
            </a:r>
            <a:r>
              <a:rPr lang="en-US" sz="1600" b="1" dirty="0" smtClean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 smtClean="0">
                <a:solidFill>
                  <a:srgbClr val="0E3F66"/>
                </a:solidFill>
                <a:latin typeface="Segoe UI" panose="020B0502040204020203" pitchFamily="34" charset="0"/>
              </a:rPr>
              <a:t>cả</a:t>
            </a:r>
            <a:r>
              <a:rPr lang="en-US" sz="1600" b="1" dirty="0" smtClean="0">
                <a:solidFill>
                  <a:srgbClr val="0E3F66"/>
                </a:solidFill>
                <a:latin typeface="Segoe UI" panose="020B0502040204020203" pitchFamily="34" charset="0"/>
              </a:rPr>
              <a:t> 2 </a:t>
            </a:r>
            <a:r>
              <a:rPr lang="en-US" sz="1600" b="1" dirty="0" err="1" smtClean="0">
                <a:solidFill>
                  <a:srgbClr val="0E3F66"/>
                </a:solidFill>
                <a:latin typeface="Segoe UI" panose="020B0502040204020203" pitchFamily="34" charset="0"/>
              </a:rPr>
              <a:t>bên</a:t>
            </a:r>
            <a:endParaRPr lang="en-GB" sz="1600" b="1" dirty="0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BRAND_LOGO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6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Test Blank - 2000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31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206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921</TotalTime>
  <Words>932</Words>
  <Application>Microsoft Office PowerPoint</Application>
  <PresentationFormat>Widescreen</PresentationFormat>
  <Paragraphs>129</Paragraphs>
  <Slides>31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Aptos</vt:lpstr>
      <vt:lpstr>Aptos Display</vt:lpstr>
      <vt:lpstr>Arial</vt:lpstr>
      <vt:lpstr>Helvetica Neue</vt:lpstr>
      <vt:lpstr>Helvetica Neue Light</vt:lpstr>
      <vt:lpstr>Segoe UI</vt:lpstr>
      <vt:lpstr>Times New Roman</vt:lpstr>
      <vt:lpstr>Office Theme</vt:lpstr>
      <vt:lpstr>Test Blank - 2000</vt:lpstr>
      <vt:lpstr>Chief complain</vt:lpstr>
      <vt:lpstr>Dental history</vt:lpstr>
      <vt:lpstr>Ảnh đánh giá cột sống</vt:lpstr>
      <vt:lpstr>Ảnh ngoài mặt </vt:lpstr>
      <vt:lpstr>Ảnh góc nghiêng môi tự nhiên chụp cả 2 bên trái phải</vt:lpstr>
      <vt:lpstr>Khép môi kín và hơi hở môi thư giãn</vt:lpstr>
      <vt:lpstr>Cười tươi và vừa cười vừa há hở răng cửa dưới</vt:lpstr>
      <vt:lpstr>Cười lớn lộ răng chụp góc nghiêng</vt:lpstr>
      <vt:lpstr>Cắn chặt và để hở rang cửa có banh miệng</vt:lpstr>
      <vt:lpstr>Cắn chặt răng chụp bên trái – bên phải</vt:lpstr>
      <vt:lpstr>Chụp xiên ko banh môi lấy mặt trong và mặt nhai từng bên</vt:lpstr>
      <vt:lpstr>Cắn chặt và cắn ra trước đối đầu nhau</vt:lpstr>
      <vt:lpstr>Cắn ra trước bên trái và bên phải</vt:lpstr>
      <vt:lpstr>Trượt đối đỉnh răng nanh bên trái và bên phải</vt:lpstr>
      <vt:lpstr>Trượt răng nanh sang phải ảnh trực diện,  và 2 bên</vt:lpstr>
      <vt:lpstr>Trượt răng nanh sang trái ảnh trực diện,  và 2 bên</vt:lpstr>
      <vt:lpstr>Cắn chặt và lùi hàm hết sức chụp dưới lên</vt:lpstr>
      <vt:lpstr>Toàn bộ hàm trên qua gương</vt:lpstr>
      <vt:lpstr>Chụp hàm dưới qua gương</vt:lpstr>
      <vt:lpstr>Video chu trình nhai thật của bệnh nhân</vt:lpstr>
      <vt:lpstr>Tổng hợp ảnh vào 2 khung</vt:lpstr>
      <vt:lpstr>Khung 2, chú ý 2 ảnh góc dưới cùng 2 bên là tiến ra trước và chụp bên trái bên phải. </vt:lpstr>
      <vt:lpstr>2 ảnh đường thở: 1 ảnh há lớn chụp vào lưỡi gà, 1 ảnh lè lưỡi chụp vào lưỡi gà. </vt:lpstr>
      <vt:lpstr>             9mm                              7mm</vt:lpstr>
      <vt:lpstr>                             13mm</vt:lpstr>
      <vt:lpstr>Xquang </vt:lpstr>
      <vt:lpstr>Đường thở</vt:lpstr>
      <vt:lpstr>TMJ cung 1</vt:lpstr>
      <vt:lpstr>TMJ cung 2</vt:lpstr>
      <vt:lpstr>Xem cả 2 bên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Patient Name: La Thục Nghi - 1988 </dc:title>
  <dc:creator>ADMIN</dc:creator>
  <cp:lastModifiedBy>PC</cp:lastModifiedBy>
  <cp:revision>55</cp:revision>
  <dcterms:created xsi:type="dcterms:W3CDTF">2026-08-02T07:22:00Z</dcterms:created>
  <dcterms:modified xsi:type="dcterms:W3CDTF">2026-09-30T04:30:33Z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C4F78B213D124498AD446A1FA004BA06_13</vt:lpwstr>
  </property>
  <property fmtid="{D5CDD505-2E9C-101B-9397-08002B2CF9AE}" pid="3" name="KSOProductBuildVer">
    <vt:lpwstr>1033-12.2.0.23196</vt:lpwstr>
  </property>
</Properties>
</file>