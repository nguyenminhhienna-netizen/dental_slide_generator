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61" r:id="rId3"/>
    <p:sldId id="262" r:id="rId4"/>
    <p:sldId id="292" r:id="rId5"/>
    <p:sldId id="258" r:id="rId6"/>
    <p:sldId id="259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89" r:id="rId15"/>
    <p:sldId id="269" r:id="rId16"/>
    <p:sldId id="290" r:id="rId17"/>
    <p:sldId id="291" r:id="rId18"/>
    <p:sldId id="270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94" r:id="rId29"/>
    <p:sldId id="295" r:id="rId30"/>
    <p:sldId id="296" r:id="rId31"/>
    <p:sldId id="297" r:id="rId3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5526C-5D39-41B1-A833-0D9691804329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31BFE-FCE1-4DEE-8EBD-EAF0122805D1}" type="slidenum">
              <a:rPr lang="vi-VN" smtClean="0"/>
              <a:t>‹#›</a:t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 type="tx">
  <p:cSld name="Title &amp; Bullet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9"/>
          <p:cNvSpPr txBox="1">
            <a:spLocks noGrp="1"/>
          </p:cNvSpPr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9"/>
          <p:cNvSpPr txBox="1">
            <a:spLocks noGrp="1"/>
          </p:cNvSpPr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228600" lvl="0" indent="-3048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2400"/>
            </a:lvl1pPr>
            <a:lvl2pPr marL="457200" lvl="1" indent="-3048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2400"/>
            </a:lvl2pPr>
            <a:lvl3pPr marL="685800" lvl="2" indent="-3048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2400"/>
            </a:lvl3pPr>
            <a:lvl4pPr marL="914400" lvl="3" indent="-3048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2400"/>
            </a:lvl4pPr>
            <a:lvl5pPr marL="1143000" lvl="4" indent="-3048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2400"/>
            </a:lvl5pPr>
            <a:lvl6pPr marL="1371600" lvl="5" indent="-18605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1600200" lvl="6" indent="-18605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1828800" lvl="7" indent="-18605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2057400" lvl="8" indent="-18605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9"/>
          <p:cNvSpPr txBox="1">
            <a:spLocks noGrp="1"/>
          </p:cNvSpPr>
          <p:nvPr>
            <p:ph type="sldNum" idx="12"/>
          </p:nvPr>
        </p:nvSpPr>
        <p:spPr>
          <a:xfrm>
            <a:off x="5979516" y="6540500"/>
            <a:ext cx="226619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49703-B5EE-43C0-8AD3-866FE2E94C0F}" type="datetimeFigureOut">
              <a:rPr lang="vi-VN" smtClean="0"/>
              <a:t>19/09/2026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eg"/><Relationship Id="rId3" Type="http://schemas.openxmlformats.org/officeDocument/2006/relationships/image" Target="../media/image38.jpeg"/><Relationship Id="rId7" Type="http://schemas.openxmlformats.org/officeDocument/2006/relationships/image" Target="../media/image42.jpeg"/><Relationship Id="rId12" Type="http://schemas.openxmlformats.org/officeDocument/2006/relationships/image" Target="../media/image47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jpeg"/><Relationship Id="rId11" Type="http://schemas.openxmlformats.org/officeDocument/2006/relationships/image" Target="../media/image46.jpeg"/><Relationship Id="rId5" Type="http://schemas.openxmlformats.org/officeDocument/2006/relationships/image" Target="../media/image40.jpeg"/><Relationship Id="rId10" Type="http://schemas.openxmlformats.org/officeDocument/2006/relationships/image" Target="../media/image45.jpeg"/><Relationship Id="rId4" Type="http://schemas.openxmlformats.org/officeDocument/2006/relationships/image" Target="../media/image39.jpeg"/><Relationship Id="rId9" Type="http://schemas.openxmlformats.org/officeDocument/2006/relationships/image" Target="../media/image44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3" Type="http://schemas.openxmlformats.org/officeDocument/2006/relationships/image" Target="../media/image48.jpeg"/><Relationship Id="rId7" Type="http://schemas.openxmlformats.org/officeDocument/2006/relationships/image" Target="../media/image52.jpeg"/><Relationship Id="rId12" Type="http://schemas.openxmlformats.org/officeDocument/2006/relationships/image" Target="../media/image57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jpeg"/><Relationship Id="rId11" Type="http://schemas.openxmlformats.org/officeDocument/2006/relationships/image" Target="../media/image56.jpeg"/><Relationship Id="rId5" Type="http://schemas.openxmlformats.org/officeDocument/2006/relationships/image" Target="../media/image50.jpeg"/><Relationship Id="rId10" Type="http://schemas.openxmlformats.org/officeDocument/2006/relationships/image" Target="../media/image55.jpeg"/><Relationship Id="rId4" Type="http://schemas.openxmlformats.org/officeDocument/2006/relationships/image" Target="../media/image49.jpeg"/><Relationship Id="rId9" Type="http://schemas.openxmlformats.org/officeDocument/2006/relationships/image" Target="../media/image54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jpeg"/><Relationship Id="rId3" Type="http://schemas.openxmlformats.org/officeDocument/2006/relationships/image" Target="../media/image59.jpeg"/><Relationship Id="rId7" Type="http://schemas.openxmlformats.org/officeDocument/2006/relationships/image" Target="../media/image63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jpeg"/><Relationship Id="rId5" Type="http://schemas.openxmlformats.org/officeDocument/2006/relationships/image" Target="../media/image61.jpeg"/><Relationship Id="rId10" Type="http://schemas.openxmlformats.org/officeDocument/2006/relationships/image" Target="../media/image66.jpeg"/><Relationship Id="rId4" Type="http://schemas.openxmlformats.org/officeDocument/2006/relationships/image" Target="../media/image60.jpeg"/><Relationship Id="rId9" Type="http://schemas.openxmlformats.org/officeDocument/2006/relationships/image" Target="../media/image6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1175" y="311020"/>
            <a:ext cx="11109649" cy="2968788"/>
          </a:xfrm>
        </p:spPr>
        <p:txBody>
          <a:bodyPr>
            <a:normAutofit/>
          </a:bodyPr>
          <a:lstStyle/>
          <a:p>
            <a:r>
              <a:rPr lang="it-IT" sz="4400" b="1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Nguyễn Vũ Bảo Ngọc - 1996</a:t>
            </a:r>
            <a:endParaRPr lang="en-US" sz="4400" b="1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 dirty="0" err="1" smtClean="0"/>
              <a:t>Lê</a:t>
            </a:r>
            <a:r>
              <a:rPr lang="en-US" dirty="0" smtClean="0"/>
              <a:t> </a:t>
            </a:r>
            <a:r>
              <a:rPr lang="en-US" dirty="0" err="1" smtClean="0"/>
              <a:t>Võ</a:t>
            </a:r>
            <a:r>
              <a:rPr lang="en-US" dirty="0" smtClean="0"/>
              <a:t> </a:t>
            </a:r>
            <a:r>
              <a:rPr lang="en-US" dirty="0" err="1" smtClean="0"/>
              <a:t>Yến</a:t>
            </a:r>
            <a:r>
              <a:rPr lang="en-US" dirty="0" smtClean="0"/>
              <a:t> </a:t>
            </a:r>
            <a:r>
              <a:rPr lang="en-US" dirty="0" err="1" smtClean="0"/>
              <a:t>Nhi</a:t>
            </a:r>
            <a:endParaRPr lang="en-US" dirty="0"/>
          </a:p>
          <a:p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sở</a:t>
            </a:r>
            <a:r>
              <a:rPr lang="en-US" dirty="0" smtClean="0"/>
              <a:t> Tp. </a:t>
            </a:r>
            <a:r>
              <a:rPr lang="en-US" dirty="0" err="1" smtClean="0"/>
              <a:t>Hồ</a:t>
            </a:r>
            <a:r>
              <a:rPr lang="en-US" dirty="0" smtClean="0"/>
              <a:t> </a:t>
            </a:r>
            <a:r>
              <a:rPr lang="en-US" dirty="0" err="1" smtClean="0"/>
              <a:t>Chí</a:t>
            </a:r>
            <a:r>
              <a:rPr lang="en-US" dirty="0" smtClean="0"/>
              <a:t> Minh</a:t>
            </a:r>
            <a:endParaRPr lang="vi-V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>
            <a:spLocks noGrp="1"/>
          </p:cNvSpPr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ctr" anchorCtr="0">
            <a:normAutofit/>
          </a:bodyPr>
          <a:lstStyle/>
          <a:p>
            <a:pPr>
              <a:buSzPts val="11200"/>
            </a:pPr>
            <a:r>
              <a:rPr lang="en-US" sz="5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Chief complain</a:t>
            </a:r>
          </a:p>
        </p:txBody>
      </p:sp>
      <p:sp>
        <p:nvSpPr>
          <p:cNvPr id="82" name="Google Shape;82;p2"/>
          <p:cNvSpPr txBox="1">
            <a:spLocks noGrp="1"/>
          </p:cNvSpPr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ctr" anchorCtr="0">
            <a:normAutofit/>
          </a:bodyPr>
          <a:lstStyle/>
          <a:p>
            <a:pPr marL="317500" indent="-317500">
              <a:spcBef>
                <a:spcPts val="0"/>
              </a:spcBef>
            </a:pPr>
            <a:r>
              <a:rPr lang="en-US"/>
              <a:t>Pain in the left jaw angle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317500" indent="-317500">
              <a:spcBef>
                <a:spcPts val="0"/>
              </a:spcBef>
            </a:pPr>
            <a:r>
              <a:rPr lang="en-US"/>
              <a:t>Clenching teeth while sleeping</a:t>
            </a:r>
          </a:p>
          <a:p>
            <a:pPr marL="317500" indent="-317500">
              <a:spcBef>
                <a:spcPts val="0"/>
              </a:spcBef>
            </a:pPr>
            <a:endParaRPr lang="en-US"/>
          </a:p>
          <a:p>
            <a:pPr marL="317500" indent="-317500">
              <a:spcBef>
                <a:spcPts val="0"/>
              </a:spcBef>
            </a:pPr>
            <a:r>
              <a:rPr lang="en-US"/>
              <a:t>No HeadacheNo clicking </a:t>
            </a:r>
            <a:r>
              <a:rPr lang="en-US" dirty="0"/>
              <a:t>sound both sides</a:t>
            </a:r>
            <a:endParaRPr dirty="0"/>
          </a:p>
          <a:p>
            <a:pPr marL="317500" indent="-317500"/>
            <a:r>
              <a:rPr lang="en-US"/>
              <a:t>No neck </a:t>
            </a:r>
            <a:r>
              <a:rPr lang="en-US" dirty="0"/>
              <a:t>and shoulder pain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 txBox="1">
            <a:spLocks noGrp="1"/>
          </p:cNvSpPr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ctr" anchorCtr="0">
            <a:normAutofit/>
          </a:bodyPr>
          <a:lstStyle/>
          <a:p>
            <a:pPr>
              <a:buSzPts val="11200"/>
            </a:pPr>
            <a:r>
              <a:rPr lang="en-US" sz="5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Dental history</a:t>
            </a:r>
          </a:p>
        </p:txBody>
      </p:sp>
      <p:sp>
        <p:nvSpPr>
          <p:cNvPr id="88" name="Google Shape;88;p3"/>
          <p:cNvSpPr txBox="1">
            <a:spLocks noGrp="1"/>
          </p:cNvSpPr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ctr" anchorCtr="0">
            <a:normAutofit/>
          </a:bodyPr>
          <a:lstStyle/>
          <a:p>
            <a:pPr marL="317500" indent="-317500">
              <a:spcBef>
                <a:spcPts val="0"/>
              </a:spcBef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cột</a:t>
            </a:r>
            <a:r>
              <a:rPr lang="en-US" dirty="0"/>
              <a:t> </a:t>
            </a:r>
            <a:r>
              <a:rPr lang="en-US" dirty="0" err="1"/>
              <a:t>sống</a:t>
            </a:r>
            <a:endParaRPr lang="vi-V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0056" y="1320800"/>
            <a:ext cx="1971880" cy="51473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486" y="1320800"/>
            <a:ext cx="1836458" cy="51473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Ảnh ngoài mặt </a:t>
            </a:r>
            <a:endParaRPr lang="vi-V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16" y="1690690"/>
            <a:ext cx="3901751" cy="3901751"/>
          </a:xfrm>
          <a:prstGeom prst="roundRect">
            <a:avLst>
              <a:gd name="adj" fmla="val 4000"/>
            </a:avLst>
          </a:prstGeom>
          <a:ln w="19050">
            <a:solidFill>
              <a:srgbClr val="ECE2D9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0567" y="1690689"/>
            <a:ext cx="3901751" cy="3901751"/>
          </a:xfrm>
          <a:prstGeom prst="roundRect">
            <a:avLst>
              <a:gd name="adj" fmla="val 4000"/>
            </a:avLst>
          </a:prstGeom>
          <a:ln w="19050">
            <a:solidFill>
              <a:srgbClr val="ECE2D9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2318" y="1690688"/>
            <a:ext cx="3901751" cy="3901751"/>
          </a:xfrm>
          <a:prstGeom prst="roundRect">
            <a:avLst>
              <a:gd name="adj" fmla="val 4000"/>
            </a:avLst>
          </a:prstGeom>
          <a:ln w="19050">
            <a:solidFill>
              <a:srgbClr val="ECE2D9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Ảnh góc nghiêng môi tự nhiên chụp cả 2 bên trái phải</a:t>
            </a:r>
            <a:endParaRPr lang="vi-VN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732" y="1830356"/>
            <a:ext cx="4492688" cy="449268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513" y="1830356"/>
            <a:ext cx="4492688" cy="44926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Khép môi kín và hơi hở môi thư giãn</a:t>
            </a:r>
            <a:endParaRPr lang="vi-V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424" y="1758364"/>
            <a:ext cx="5438757" cy="40794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2" y="1758364"/>
            <a:ext cx="5438768" cy="40794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Cười</a:t>
            </a:r>
            <a:r>
              <a:rPr lang="en-US" dirty="0"/>
              <a:t> </a:t>
            </a:r>
            <a:r>
              <a:rPr lang="en-US" dirty="0" err="1"/>
              <a:t>tươi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vừa</a:t>
            </a:r>
            <a:r>
              <a:rPr lang="en-US" dirty="0"/>
              <a:t> </a:t>
            </a:r>
            <a:r>
              <a:rPr lang="en-US" dirty="0" err="1"/>
              <a:t>cười</a:t>
            </a:r>
            <a:r>
              <a:rPr lang="en-US" dirty="0"/>
              <a:t> </a:t>
            </a:r>
            <a:r>
              <a:rPr lang="en-US" dirty="0" err="1"/>
              <a:t>vừa</a:t>
            </a:r>
            <a:r>
              <a:rPr lang="en-US" dirty="0"/>
              <a:t> </a:t>
            </a:r>
            <a:r>
              <a:rPr lang="en-US" dirty="0" err="1"/>
              <a:t>há</a:t>
            </a:r>
            <a:r>
              <a:rPr lang="en-US" dirty="0"/>
              <a:t> </a:t>
            </a:r>
            <a:r>
              <a:rPr lang="en-US" dirty="0" err="1"/>
              <a:t>hở</a:t>
            </a:r>
            <a:r>
              <a:rPr lang="en-US" dirty="0"/>
              <a:t> </a:t>
            </a:r>
            <a:r>
              <a:rPr lang="en-US" dirty="0" err="1"/>
              <a:t>răng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 smtClean="0"/>
              <a:t>dưới</a:t>
            </a:r>
            <a:endParaRPr lang="vi-V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489" y="2089639"/>
            <a:ext cx="5731348" cy="322422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19" y="2089639"/>
            <a:ext cx="5733014" cy="32242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Cười lớn lộ răng chụp góc nghiêng</a:t>
            </a:r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140" y="1399107"/>
            <a:ext cx="4121790" cy="5157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968" y="1399107"/>
            <a:ext cx="4128780" cy="51574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Cắn chặt và để hở rang cửa có banh miệng</a:t>
            </a:r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417" y="2114935"/>
            <a:ext cx="5436938" cy="3057829"/>
          </a:xfrm>
          <a:prstGeom prst="roundRect">
            <a:avLst>
              <a:gd name="adj" fmla="val 4000"/>
            </a:avLst>
          </a:prstGeom>
          <a:ln w="19050">
            <a:solidFill>
              <a:srgbClr val="ECE2D9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80" y="2114936"/>
            <a:ext cx="5436139" cy="3057829"/>
          </a:xfrm>
          <a:prstGeom prst="roundRect">
            <a:avLst>
              <a:gd name="adj" fmla="val 4000"/>
            </a:avLst>
          </a:prstGeom>
          <a:ln w="19050">
            <a:solidFill>
              <a:srgbClr val="ECE2D9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Cắn chặt răng chụp bên trái – bên phải</a:t>
            </a:r>
            <a:endParaRPr lang="vi-V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1197" y="2189583"/>
            <a:ext cx="5731121" cy="32231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02" y="2189357"/>
            <a:ext cx="5757155" cy="32387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Chụp</a:t>
            </a:r>
            <a:r>
              <a:rPr lang="en-US" dirty="0"/>
              <a:t> </a:t>
            </a:r>
            <a:r>
              <a:rPr lang="en-US" dirty="0" err="1"/>
              <a:t>xiên</a:t>
            </a:r>
            <a:r>
              <a:rPr lang="en-US" dirty="0"/>
              <a:t> </a:t>
            </a:r>
            <a:r>
              <a:rPr lang="en-US" dirty="0" err="1"/>
              <a:t>ko</a:t>
            </a:r>
            <a:r>
              <a:rPr lang="en-US" dirty="0"/>
              <a:t> banh </a:t>
            </a: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 smtClean="0"/>
              <a:t>nhai</a:t>
            </a:r>
            <a:r>
              <a:rPr lang="en-US" dirty="0" smtClean="0"/>
              <a:t> </a:t>
            </a:r>
            <a:r>
              <a:rPr lang="en-US" dirty="0" err="1" smtClean="0"/>
              <a:t>từng</a:t>
            </a:r>
            <a:r>
              <a:rPr lang="en-US" dirty="0" smtClean="0"/>
              <a:t> </a:t>
            </a:r>
            <a:r>
              <a:rPr lang="en-US" dirty="0" err="1"/>
              <a:t>bên</a:t>
            </a:r>
            <a:endParaRPr lang="vi-V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278078" y="1162437"/>
            <a:ext cx="4140004" cy="55185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841294" y="1161310"/>
            <a:ext cx="4140004" cy="5520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Cắn chặt và cắn ra trước đối đầu nhau</a:t>
            </a:r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8350" y="2015541"/>
            <a:ext cx="5396997" cy="30355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878" y="2015411"/>
            <a:ext cx="5396769" cy="30356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Cắn ra trước bên trái và bên phải</a:t>
            </a:r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794" y="1825407"/>
            <a:ext cx="5468454" cy="30769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61" y="1825407"/>
            <a:ext cx="5575292" cy="31361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Trượt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đỉnh</a:t>
            </a:r>
            <a:r>
              <a:rPr lang="en-US" dirty="0"/>
              <a:t> </a:t>
            </a:r>
            <a:r>
              <a:rPr lang="en-US" dirty="0" err="1"/>
              <a:t>răng</a:t>
            </a:r>
            <a:r>
              <a:rPr lang="en-US" dirty="0"/>
              <a:t> </a:t>
            </a:r>
            <a:r>
              <a:rPr lang="en-US" dirty="0" err="1"/>
              <a:t>nanh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 smtClean="0"/>
              <a:t>phải</a:t>
            </a:r>
            <a:endParaRPr lang="vi-V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238" y="2224975"/>
            <a:ext cx="5398942" cy="303767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92" y="2224975"/>
            <a:ext cx="5400869" cy="303711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769" y="938991"/>
            <a:ext cx="10515600" cy="105312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Trượt</a:t>
            </a:r>
            <a:r>
              <a:rPr lang="en-US" dirty="0"/>
              <a:t> </a:t>
            </a:r>
            <a:r>
              <a:rPr lang="en-US" dirty="0" err="1"/>
              <a:t>răng</a:t>
            </a:r>
            <a:r>
              <a:rPr lang="en-US" dirty="0"/>
              <a:t> </a:t>
            </a:r>
            <a:r>
              <a:rPr lang="en-US" dirty="0" err="1"/>
              <a:t>nanh</a:t>
            </a:r>
            <a:r>
              <a:rPr lang="en-US" dirty="0"/>
              <a:t> sang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và</a:t>
            </a:r>
            <a:r>
              <a:rPr lang="en-US" dirty="0"/>
              <a:t> 2 </a:t>
            </a:r>
            <a:r>
              <a:rPr lang="en-US" dirty="0" err="1"/>
              <a:t>bên</a:t>
            </a:r>
            <a:endParaRPr lang="vi-V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65" y="2536136"/>
            <a:ext cx="3718193" cy="20908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5315" y="2536136"/>
            <a:ext cx="3717837" cy="209194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899" y="2536136"/>
            <a:ext cx="3720975" cy="20928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Trượt răng nanh sang trái ảnh trực diện, </a:t>
            </a:r>
            <a:br>
              <a:rPr lang="en-US"/>
            </a:br>
            <a:r>
              <a:rPr lang="en-US"/>
              <a:t>và 2 bên</a:t>
            </a:r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080" y="2355085"/>
            <a:ext cx="3755392" cy="21129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664" y="2358506"/>
            <a:ext cx="3749467" cy="210952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73" y="2357535"/>
            <a:ext cx="3751742" cy="211049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Cắn chặt và lùi hàm hết sức chụp dưới lên</a:t>
            </a:r>
            <a:endParaRPr lang="vi-V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36" y="2046625"/>
            <a:ext cx="5393095" cy="303287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541" y="2046625"/>
            <a:ext cx="5393095" cy="30335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Toàn bộ hàm trên qua gương</a:t>
            </a:r>
            <a:endParaRPr lang="vi-V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345" y="1480126"/>
            <a:ext cx="7321309" cy="488024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Chụp hàm dưới qua gương</a:t>
            </a:r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392" y="1362031"/>
            <a:ext cx="7335215" cy="4889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Video chu trình nhai thật của bệnh nhân</a:t>
            </a:r>
            <a:endParaRPr lang="vi-VN"/>
          </a:p>
        </p:txBody>
      </p:sp>
      <p:pic>
        <p:nvPicPr>
          <p:cNvPr id="4" name="IMG_3292 (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79008" y="1364584"/>
            <a:ext cx="8433984" cy="47441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965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2 </a:t>
            </a:r>
            <a:r>
              <a:rPr lang="en-US" dirty="0" err="1"/>
              <a:t>khung</a:t>
            </a:r>
            <a:endParaRPr lang="vi-V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646" y="797766"/>
            <a:ext cx="1970315" cy="197031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504" y="802431"/>
            <a:ext cx="1965650" cy="19656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788" y="802431"/>
            <a:ext cx="1970315" cy="1970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697" y="797766"/>
            <a:ext cx="1973425" cy="19734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961" y="2813243"/>
            <a:ext cx="2341526" cy="131710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949" y="5488019"/>
            <a:ext cx="2342100" cy="131710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954" y="4150631"/>
            <a:ext cx="2341869" cy="131710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788" y="3055840"/>
            <a:ext cx="2798443" cy="186538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3661" y="3055839"/>
            <a:ext cx="2798461" cy="186538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334" y="5233405"/>
            <a:ext cx="2785788" cy="156668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788" y="5229609"/>
            <a:ext cx="2798443" cy="157428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833" y="85207"/>
            <a:ext cx="11807890" cy="629957"/>
          </a:xfrm>
        </p:spPr>
        <p:txBody>
          <a:bodyPr>
            <a:noAutofit/>
          </a:bodyPr>
          <a:lstStyle/>
          <a:p>
            <a:pPr algn="ctr"/>
            <a:r>
              <a:rPr lang="en-US" sz="2400" dirty="0" err="1"/>
              <a:t>Khung</a:t>
            </a:r>
            <a:r>
              <a:rPr lang="en-US" sz="2400" dirty="0"/>
              <a:t> 2, </a:t>
            </a:r>
            <a:r>
              <a:rPr lang="en-US" sz="2400" dirty="0" err="1"/>
              <a:t>chú</a:t>
            </a:r>
            <a:r>
              <a:rPr lang="en-US" sz="2400" dirty="0"/>
              <a:t> ý 2 </a:t>
            </a:r>
            <a:r>
              <a:rPr lang="en-US" sz="2400" dirty="0" err="1"/>
              <a:t>ảnh</a:t>
            </a:r>
            <a:r>
              <a:rPr lang="en-US" sz="2400" dirty="0"/>
              <a:t> </a:t>
            </a:r>
            <a:r>
              <a:rPr lang="en-US" sz="2400" dirty="0" err="1"/>
              <a:t>góc</a:t>
            </a:r>
            <a:r>
              <a:rPr lang="en-US" sz="2400" dirty="0"/>
              <a:t> </a:t>
            </a:r>
            <a:r>
              <a:rPr lang="en-US" sz="2400" dirty="0" err="1"/>
              <a:t>dưới</a:t>
            </a:r>
            <a:r>
              <a:rPr lang="en-US" sz="2400" dirty="0"/>
              <a:t> </a:t>
            </a:r>
            <a:r>
              <a:rPr lang="en-US" sz="2400" dirty="0" err="1"/>
              <a:t>cùng</a:t>
            </a:r>
            <a:r>
              <a:rPr lang="en-US" sz="2400" dirty="0"/>
              <a:t> 2 </a:t>
            </a:r>
            <a:r>
              <a:rPr lang="en-US" sz="2400" dirty="0" err="1"/>
              <a:t>bên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tiến</a:t>
            </a:r>
            <a:r>
              <a:rPr lang="en-US" sz="2400" dirty="0"/>
              <a:t> </a:t>
            </a:r>
            <a:r>
              <a:rPr lang="en-US" sz="2400" dirty="0" err="1"/>
              <a:t>ra</a:t>
            </a:r>
            <a:r>
              <a:rPr lang="en-US" sz="2400" dirty="0"/>
              <a:t> </a:t>
            </a:r>
            <a:r>
              <a:rPr lang="en-US" sz="2400" dirty="0" err="1"/>
              <a:t>trước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chụp</a:t>
            </a:r>
            <a:r>
              <a:rPr lang="en-US" sz="2400" dirty="0"/>
              <a:t> </a:t>
            </a:r>
            <a:r>
              <a:rPr lang="en-US" sz="2400" dirty="0" err="1"/>
              <a:t>bên</a:t>
            </a:r>
            <a:r>
              <a:rPr lang="en-US" sz="2400" dirty="0"/>
              <a:t> </a:t>
            </a:r>
            <a:r>
              <a:rPr lang="en-US" sz="2400" dirty="0" err="1"/>
              <a:t>trái</a:t>
            </a:r>
            <a:r>
              <a:rPr lang="en-US" sz="2400" dirty="0"/>
              <a:t> </a:t>
            </a:r>
            <a:r>
              <a:rPr lang="en-US" sz="2400" dirty="0" err="1"/>
              <a:t>bên</a:t>
            </a:r>
            <a:r>
              <a:rPr lang="en-US" sz="2400" dirty="0"/>
              <a:t> </a:t>
            </a:r>
            <a:r>
              <a:rPr lang="en-US" sz="2400" dirty="0" err="1"/>
              <a:t>phải</a:t>
            </a:r>
            <a:r>
              <a:rPr lang="en-US" sz="2400" dirty="0"/>
              <a:t>. </a:t>
            </a:r>
            <a:endParaRPr lang="vi-VN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4" y="719829"/>
            <a:ext cx="1970315" cy="197031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485" y="737339"/>
            <a:ext cx="1955993" cy="195599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66" y="734151"/>
            <a:ext cx="1955993" cy="195599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29" y="734151"/>
            <a:ext cx="1955993" cy="195599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352" y="5151565"/>
            <a:ext cx="2794126" cy="157216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487" y="5151565"/>
            <a:ext cx="2792819" cy="157096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404" y="2707443"/>
            <a:ext cx="2341795" cy="1317108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080" y="5402554"/>
            <a:ext cx="2346119" cy="131997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403" y="4054978"/>
            <a:ext cx="2341796" cy="131714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522253" y="2518484"/>
            <a:ext cx="2100816" cy="2800348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741382" y="2516699"/>
            <a:ext cx="2096481" cy="279571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495" y="-153176"/>
            <a:ext cx="11492413" cy="1036046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2 </a:t>
            </a:r>
            <a:r>
              <a:rPr lang="en-US" sz="2400" dirty="0" err="1"/>
              <a:t>ảnh</a:t>
            </a:r>
            <a:r>
              <a:rPr lang="en-US" sz="2400" dirty="0"/>
              <a:t> </a:t>
            </a:r>
            <a:r>
              <a:rPr lang="en-US" sz="2400" dirty="0" err="1"/>
              <a:t>đường</a:t>
            </a:r>
            <a:r>
              <a:rPr lang="en-US" sz="2400" dirty="0"/>
              <a:t> </a:t>
            </a:r>
            <a:r>
              <a:rPr lang="en-US" sz="2400" dirty="0" err="1"/>
              <a:t>thở</a:t>
            </a:r>
            <a:r>
              <a:rPr lang="en-US" sz="2400" dirty="0"/>
              <a:t>: 1 </a:t>
            </a:r>
            <a:r>
              <a:rPr lang="en-US" sz="2400" dirty="0" err="1"/>
              <a:t>ảnh</a:t>
            </a:r>
            <a:r>
              <a:rPr lang="en-US" sz="2400" dirty="0"/>
              <a:t> </a:t>
            </a:r>
            <a:r>
              <a:rPr lang="en-US" sz="2400" dirty="0" err="1"/>
              <a:t>há</a:t>
            </a:r>
            <a:r>
              <a:rPr lang="en-US" sz="2400" dirty="0"/>
              <a:t> </a:t>
            </a:r>
            <a:r>
              <a:rPr lang="en-US" sz="2400" dirty="0" err="1"/>
              <a:t>lớn</a:t>
            </a:r>
            <a:r>
              <a:rPr lang="en-US" sz="2400" dirty="0"/>
              <a:t> </a:t>
            </a:r>
            <a:r>
              <a:rPr lang="en-US" sz="2400" dirty="0" err="1"/>
              <a:t>chụp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lưỡi</a:t>
            </a:r>
            <a:r>
              <a:rPr lang="en-US" sz="2400" dirty="0"/>
              <a:t> </a:t>
            </a:r>
            <a:r>
              <a:rPr lang="en-US" sz="2400" dirty="0" err="1"/>
              <a:t>gà</a:t>
            </a:r>
            <a:r>
              <a:rPr lang="en-US" sz="2400" dirty="0"/>
              <a:t>, 1 </a:t>
            </a:r>
            <a:r>
              <a:rPr lang="en-US" sz="2400" dirty="0" err="1"/>
              <a:t>ảnh</a:t>
            </a:r>
            <a:r>
              <a:rPr lang="en-US" sz="2400" dirty="0"/>
              <a:t> </a:t>
            </a:r>
            <a:r>
              <a:rPr lang="en-US" sz="2400" dirty="0" err="1"/>
              <a:t>lè</a:t>
            </a:r>
            <a:r>
              <a:rPr lang="en-US" sz="2400" dirty="0"/>
              <a:t> </a:t>
            </a:r>
            <a:r>
              <a:rPr lang="en-US" sz="2400" dirty="0" err="1"/>
              <a:t>lưỡi</a:t>
            </a:r>
            <a:r>
              <a:rPr lang="en-US" sz="2400" dirty="0"/>
              <a:t> </a:t>
            </a:r>
            <a:r>
              <a:rPr lang="en-US" sz="2400" dirty="0" err="1"/>
              <a:t>chụp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lưỡi</a:t>
            </a:r>
            <a:r>
              <a:rPr lang="en-US" sz="2400" dirty="0"/>
              <a:t> </a:t>
            </a:r>
            <a:r>
              <a:rPr lang="en-US" sz="2400" dirty="0" err="1"/>
              <a:t>gà</a:t>
            </a:r>
            <a:r>
              <a:rPr lang="en-US" sz="2400" dirty="0"/>
              <a:t>. </a:t>
            </a:r>
            <a:endParaRPr lang="vi-VN" sz="24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494" y="666649"/>
            <a:ext cx="2891058" cy="216788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483" y="2867365"/>
            <a:ext cx="2890510" cy="216788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494" y="2868832"/>
            <a:ext cx="2889320" cy="2167323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992" y="2867365"/>
            <a:ext cx="2886257" cy="216495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483" y="666648"/>
            <a:ext cx="2890510" cy="2167883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481" y="665182"/>
            <a:ext cx="2890768" cy="216788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482" y="5085480"/>
            <a:ext cx="2890767" cy="162601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242" y="5088114"/>
            <a:ext cx="2889320" cy="162484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0341" y="5085480"/>
            <a:ext cx="2893652" cy="162747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678" y="517425"/>
            <a:ext cx="11502521" cy="1325563"/>
          </a:xfrm>
        </p:spPr>
        <p:txBody>
          <a:bodyPr>
            <a:normAutofit/>
          </a:bodyPr>
          <a:lstStyle/>
          <a:p>
            <a:r>
              <a:rPr lang="en-US" dirty="0"/>
              <a:t>      </a:t>
            </a:r>
            <a:r>
              <a:rPr lang="en-US" dirty="0" smtClean="0"/>
              <a:t>       </a:t>
            </a:r>
            <a:r>
              <a:rPr lang="en-US" dirty="0"/>
              <a:t>9</a:t>
            </a:r>
            <a:r>
              <a:rPr lang="en-US" dirty="0" smtClean="0"/>
              <a:t>mm                              </a:t>
            </a:r>
            <a:r>
              <a:rPr lang="en-US" dirty="0"/>
              <a:t>7</a:t>
            </a:r>
            <a:r>
              <a:rPr lang="en-US" dirty="0" smtClean="0"/>
              <a:t>mm</a:t>
            </a:r>
            <a:endParaRPr lang="vi-V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653" y="1483535"/>
            <a:ext cx="5829038" cy="437177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07" y="1483535"/>
            <a:ext cx="5830140" cy="437177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60977"/>
          </a:xfrm>
        </p:spPr>
        <p:txBody>
          <a:bodyPr/>
          <a:lstStyle/>
          <a:p>
            <a:r>
              <a:rPr lang="en-US" dirty="0"/>
              <a:t>                             </a:t>
            </a:r>
            <a:r>
              <a:rPr lang="en-US" dirty="0" smtClean="0"/>
              <a:t>13mm</a:t>
            </a:r>
            <a:endParaRPr lang="vi-V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671" y="1305518"/>
            <a:ext cx="6554658" cy="491555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5650"/>
          </a:xfrm>
        </p:spPr>
        <p:txBody>
          <a:bodyPr/>
          <a:lstStyle/>
          <a:p>
            <a:pPr algn="ctr"/>
            <a:r>
              <a:rPr lang="en-US" dirty="0" err="1"/>
              <a:t>Xquang</a:t>
            </a:r>
            <a:r>
              <a:rPr lang="en-US" dirty="0"/>
              <a:t> </a:t>
            </a:r>
            <a:endParaRPr lang="vi-V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104" y="1150776"/>
            <a:ext cx="9607791" cy="525067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328"/>
          </a:xfrm>
        </p:spPr>
        <p:txBody>
          <a:bodyPr/>
          <a:lstStyle/>
          <a:p>
            <a:pPr algn="ctr"/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thở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647" y="1113454"/>
            <a:ext cx="4970706" cy="552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6397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TMJ </a:t>
            </a:r>
            <a:r>
              <a:rPr lang="en-US" dirty="0" err="1" smtClean="0"/>
              <a:t>cung</a:t>
            </a:r>
            <a:r>
              <a:rPr lang="en-US" dirty="0" smtClean="0"/>
              <a:t> 1</a:t>
            </a:r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49" y="1690716"/>
            <a:ext cx="4751573" cy="352502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671" y="1690717"/>
            <a:ext cx="3337237" cy="35250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357" y="1690688"/>
            <a:ext cx="3165098" cy="352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2588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TMJ </a:t>
            </a:r>
            <a:r>
              <a:rPr lang="en-US" dirty="0" err="1" smtClean="0"/>
              <a:t>cung</a:t>
            </a:r>
            <a:r>
              <a:rPr lang="en-US" dirty="0" smtClean="0"/>
              <a:t> 2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90" y="1692978"/>
            <a:ext cx="5178703" cy="359371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272" y="1690688"/>
            <a:ext cx="3263553" cy="35960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3204" y="1690688"/>
            <a:ext cx="3351249" cy="359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486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/>
              <a:t>Xem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2 </a:t>
            </a:r>
            <a:r>
              <a:rPr lang="en-US" dirty="0" err="1" smtClean="0"/>
              <a:t>bên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82826"/>
            <a:ext cx="5440594" cy="544059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440" y="982827"/>
            <a:ext cx="4938385" cy="544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206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267</Words>
  <Application>Microsoft Office PowerPoint</Application>
  <PresentationFormat>Widescreen</PresentationFormat>
  <Paragraphs>39</Paragraphs>
  <Slides>31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Aptos Display</vt:lpstr>
      <vt:lpstr>Arial</vt:lpstr>
      <vt:lpstr>Helvetica Neue</vt:lpstr>
      <vt:lpstr>Helvetica Neue Light</vt:lpstr>
      <vt:lpstr>Times New Roman</vt:lpstr>
      <vt:lpstr>Office Theme</vt:lpstr>
      <vt:lpstr>Nguyễn Vũ Bảo Ngọc - 1996</vt:lpstr>
      <vt:lpstr>Chief complain</vt:lpstr>
      <vt:lpstr>Dental history</vt:lpstr>
      <vt:lpstr>Ảnh đánh giá cột sống</vt:lpstr>
      <vt:lpstr>Ảnh ngoài mặt </vt:lpstr>
      <vt:lpstr>Ảnh góc nghiêng môi tự nhiên chụp cả 2 bên trái phải</vt:lpstr>
      <vt:lpstr>Khép môi kín và hơi hở môi thư giãn</vt:lpstr>
      <vt:lpstr>Cười tươi và vừa cười vừa há hở răng cửa dưới</vt:lpstr>
      <vt:lpstr>Cười lớn lộ răng chụp góc nghiêng</vt:lpstr>
      <vt:lpstr>Cắn chặt và để hở rang cửa có banh miệng</vt:lpstr>
      <vt:lpstr>Cắn chặt răng chụp bên trái – bên phải</vt:lpstr>
      <vt:lpstr>Chụp xiên ko banh môi lấy mặt trong và mặt nhai từng bên</vt:lpstr>
      <vt:lpstr>Cắn chặt và cắn ra trước đối đầu nhau</vt:lpstr>
      <vt:lpstr>Cắn ra trước bên trái và bên phải</vt:lpstr>
      <vt:lpstr>Trượt đối đỉnh răng nanh bên trái và bên phải</vt:lpstr>
      <vt:lpstr>Trượt răng nanh sang phải ảnh trực diện,  và 2 bên</vt:lpstr>
      <vt:lpstr>Trượt răng nanh sang trái ảnh trực diện,  và 2 bên</vt:lpstr>
      <vt:lpstr>Cắn chặt và lùi hàm hết sức chụp dưới lên</vt:lpstr>
      <vt:lpstr>Toàn bộ hàm trên qua gương</vt:lpstr>
      <vt:lpstr>Chụp hàm dưới qua gương</vt:lpstr>
      <vt:lpstr>Video chu trình nhai thật của bệnh nhân</vt:lpstr>
      <vt:lpstr>Tổng hợp ảnh vào 2 khung</vt:lpstr>
      <vt:lpstr>Khung 2, chú ý 2 ảnh góc dưới cùng 2 bên là tiến ra trước và chụp bên trái bên phải. </vt:lpstr>
      <vt:lpstr>2 ảnh đường thở: 1 ảnh há lớn chụp vào lưỡi gà, 1 ảnh lè lưỡi chụp vào lưỡi gà. </vt:lpstr>
      <vt:lpstr>             9mm                              7mm</vt:lpstr>
      <vt:lpstr>                             13mm</vt:lpstr>
      <vt:lpstr>Xquang </vt:lpstr>
      <vt:lpstr>Đường thở</vt:lpstr>
      <vt:lpstr>TMJ cung 1</vt:lpstr>
      <vt:lpstr>TMJ cung 2</vt:lpstr>
      <vt:lpstr>Xem cả 2 bên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 Name: La Thục Nghi - 1988 </dc:title>
  <dc:creator>ADMIN</dc:creator>
  <cp:lastModifiedBy>PC</cp:lastModifiedBy>
  <cp:revision>55</cp:revision>
  <dcterms:created xsi:type="dcterms:W3CDTF">2026-08-02T07:22:00Z</dcterms:created>
  <dcterms:modified xsi:type="dcterms:W3CDTF">2026-09-19T05:27:47Z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C4F78B213D124498AD446A1FA004BA06_13</vt:lpwstr>
  </property>
  <property fmtid="{D5CDD505-2E9C-101B-9397-08002B2CF9AE}" pid="3" name="KSOProductBuildVer">
    <vt:lpwstr>1033-12.2.0.23196</vt:lpwstr>
  </property>
</Properties>
</file>